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Cabin Sketch" charset="1" panose="020B0503050202020004"/>
      <p:regular r:id="rId26"/>
    </p:embeddedFont>
    <p:embeddedFont>
      <p:font typeface="Glacial Indifference Bold" charset="1" panose="00000800000000000000"/>
      <p:regular r:id="rId27"/>
    </p:embeddedFont>
    <p:embeddedFont>
      <p:font typeface="Glacial Indifference" charset="1" panose="00000000000000000000"/>
      <p:regular r:id="rId28"/>
    </p:embeddedFont>
    <p:embeddedFont>
      <p:font typeface="Cabin Sketch Bold" charset="1" panose="020B08030502020200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26.fntdata"/><Relationship Id="rId8" Type="http://schemas.openxmlformats.org/officeDocument/2006/relationships/slide" Target="slides/slide3.xml"/><Relationship Id="rId21" Type="http://schemas.openxmlformats.org/officeDocument/2006/relationships/slide" Target="slides/slide16.xml"/><Relationship Id="rId3" Type="http://schemas.openxmlformats.org/officeDocument/2006/relationships/viewProps" Target="viewProps.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7" Type="http://schemas.openxmlformats.org/officeDocument/2006/relationships/slide" Target="slides/slide2.xml"/><Relationship Id="rId16" Type="http://schemas.openxmlformats.org/officeDocument/2006/relationships/slide" Target="slides/slide11.xml"/><Relationship Id="rId2" Type="http://schemas.openxmlformats.org/officeDocument/2006/relationships/presProps" Target="presProps.xml"/><Relationship Id="rId20" Type="http://schemas.openxmlformats.org/officeDocument/2006/relationships/slide" Target="slides/slide15.xml"/><Relationship Id="rId29" Type="http://schemas.openxmlformats.org/officeDocument/2006/relationships/font" Target="fonts/font29.fntdata"/><Relationship Id="rId1" Type="http://schemas.openxmlformats.org/officeDocument/2006/relationships/slideMaster" Target="slideMasters/slideMaster1.xml"/><Relationship Id="rId11" Type="http://schemas.openxmlformats.org/officeDocument/2006/relationships/slide" Target="slides/slide6.xml"/><Relationship Id="rId24" Type="http://schemas.openxmlformats.org/officeDocument/2006/relationships/slide" Target="slides/slide19.xml"/><Relationship Id="rId6" Type="http://schemas.openxmlformats.org/officeDocument/2006/relationships/slide" Target="slides/slide1.xml"/><Relationship Id="rId32" Type="http://schemas.openxmlformats.org/officeDocument/2006/relationships/customXml" Target="../customXml/item3.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28.fntdata"/><Relationship Id="rId5"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customXml" Target="../customXml/item2.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27.fntdata"/><Relationship Id="rId4" Type="http://schemas.openxmlformats.org/officeDocument/2006/relationships/theme" Target="theme/theme1.xml"/><Relationship Id="rId9" Type="http://schemas.openxmlformats.org/officeDocument/2006/relationships/slide" Target="slides/slide4.xml"/><Relationship Id="rId30" Type="http://schemas.openxmlformats.org/officeDocument/2006/relationships/customXml" Target="../customXml/item1.xml"/></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3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4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11" Target="../media/image46.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png" Type="http://schemas.openxmlformats.org/officeDocument/2006/relationships/image"/><Relationship Id="rId12" Target="../media/image50.svg" Type="http://schemas.openxmlformats.org/officeDocument/2006/relationships/image"/><Relationship Id="rId13" Target="../media/image51.pn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52.png" Type="http://schemas.openxmlformats.org/officeDocument/2006/relationships/image"/><Relationship Id="rId9" Target="../media/image5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818296" y="593905"/>
            <a:ext cx="7270569" cy="7136268"/>
          </a:xfrm>
          <a:custGeom>
            <a:avLst/>
            <a:gdLst/>
            <a:ahLst/>
            <a:cxnLst/>
            <a:rect r="r" b="b" t="t" l="l"/>
            <a:pathLst>
              <a:path h="7136268" w="7270569">
                <a:moveTo>
                  <a:pt x="0" y="0"/>
                </a:moveTo>
                <a:lnTo>
                  <a:pt x="7270569" y="0"/>
                </a:lnTo>
                <a:lnTo>
                  <a:pt x="7270569" y="7136268"/>
                </a:lnTo>
                <a:lnTo>
                  <a:pt x="0" y="7136268"/>
                </a:lnTo>
                <a:lnTo>
                  <a:pt x="0" y="0"/>
                </a:lnTo>
                <a:close/>
              </a:path>
            </a:pathLst>
          </a:custGeom>
          <a:blipFill>
            <a:blip r:embed="rId2">
              <a:extLst>
                <a:ext uri="{96DAC541-7B7A-43D3-8B79-37D633B846F1}">
                  <asvg:svgBlip xmlns:asvg="http://schemas.microsoft.com/office/drawing/2016/SVG/main" r:embed="rId3"/>
                </a:ext>
              </a:extLst>
            </a:blip>
            <a:stretch>
              <a:fillRect l="0" t="0" r="-75843" b="0"/>
            </a:stretch>
          </a:blipFill>
        </p:spPr>
      </p:sp>
      <p:sp>
        <p:nvSpPr>
          <p:cNvPr name="Freeform 3" id="3"/>
          <p:cNvSpPr/>
          <p:nvPr/>
        </p:nvSpPr>
        <p:spPr>
          <a:xfrm flipH="false" flipV="false" rot="0">
            <a:off x="10624405" y="-809927"/>
            <a:ext cx="5287232" cy="5189567"/>
          </a:xfrm>
          <a:custGeom>
            <a:avLst/>
            <a:gdLst/>
            <a:ahLst/>
            <a:cxnLst/>
            <a:rect r="r" b="b" t="t" l="l"/>
            <a:pathLst>
              <a:path h="5189567" w="5287232">
                <a:moveTo>
                  <a:pt x="0" y="0"/>
                </a:moveTo>
                <a:lnTo>
                  <a:pt x="5287232" y="0"/>
                </a:lnTo>
                <a:lnTo>
                  <a:pt x="5287232" y="5189568"/>
                </a:lnTo>
                <a:lnTo>
                  <a:pt x="0" y="5189568"/>
                </a:lnTo>
                <a:lnTo>
                  <a:pt x="0" y="0"/>
                </a:lnTo>
                <a:close/>
              </a:path>
            </a:pathLst>
          </a:custGeom>
          <a:blipFill>
            <a:blip r:embed="rId4">
              <a:extLst>
                <a:ext uri="{96DAC541-7B7A-43D3-8B79-37D633B846F1}">
                  <asvg:svgBlip xmlns:asvg="http://schemas.microsoft.com/office/drawing/2016/SVG/main" r:embed="rId5"/>
                </a:ext>
              </a:extLst>
            </a:blip>
            <a:stretch>
              <a:fillRect l="0" t="0" r="-75843" b="0"/>
            </a:stretch>
          </a:blipFill>
        </p:spPr>
      </p:sp>
      <p:sp>
        <p:nvSpPr>
          <p:cNvPr name="Freeform 4" id="4"/>
          <p:cNvSpPr/>
          <p:nvPr/>
        </p:nvSpPr>
        <p:spPr>
          <a:xfrm flipH="false" flipV="false" rot="0">
            <a:off x="6741202" y="3730189"/>
            <a:ext cx="10518098" cy="5871011"/>
          </a:xfrm>
          <a:custGeom>
            <a:avLst/>
            <a:gdLst/>
            <a:ahLst/>
            <a:cxnLst/>
            <a:rect r="r" b="b" t="t" l="l"/>
            <a:pathLst>
              <a:path h="5871011" w="10518098">
                <a:moveTo>
                  <a:pt x="0" y="0"/>
                </a:moveTo>
                <a:lnTo>
                  <a:pt x="10518098" y="0"/>
                </a:lnTo>
                <a:lnTo>
                  <a:pt x="10518098" y="5871011"/>
                </a:lnTo>
                <a:lnTo>
                  <a:pt x="0" y="58710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24047" y="3512105"/>
            <a:ext cx="7341571" cy="6233661"/>
          </a:xfrm>
          <a:custGeom>
            <a:avLst/>
            <a:gdLst/>
            <a:ahLst/>
            <a:cxnLst/>
            <a:rect r="r" b="b" t="t" l="l"/>
            <a:pathLst>
              <a:path h="6233661" w="7341571">
                <a:moveTo>
                  <a:pt x="0" y="0"/>
                </a:moveTo>
                <a:lnTo>
                  <a:pt x="7341572" y="0"/>
                </a:lnTo>
                <a:lnTo>
                  <a:pt x="7341572" y="6233661"/>
                </a:lnTo>
                <a:lnTo>
                  <a:pt x="0" y="62336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3844565" y="0"/>
            <a:ext cx="4443435" cy="4944017"/>
          </a:xfrm>
          <a:custGeom>
            <a:avLst/>
            <a:gdLst/>
            <a:ahLst/>
            <a:cxnLst/>
            <a:rect r="r" b="b" t="t" l="l"/>
            <a:pathLst>
              <a:path h="4944017" w="4443435">
                <a:moveTo>
                  <a:pt x="0" y="0"/>
                </a:moveTo>
                <a:lnTo>
                  <a:pt x="4443435" y="0"/>
                </a:lnTo>
                <a:lnTo>
                  <a:pt x="4443435" y="4944017"/>
                </a:lnTo>
                <a:lnTo>
                  <a:pt x="0" y="4944017"/>
                </a:lnTo>
                <a:lnTo>
                  <a:pt x="0" y="0"/>
                </a:lnTo>
                <a:close/>
              </a:path>
            </a:pathLst>
          </a:custGeom>
          <a:blipFill>
            <a:blip r:embed="rId10"/>
            <a:stretch>
              <a:fillRect l="0" t="0" r="0" b="0"/>
            </a:stretch>
          </a:blipFill>
        </p:spPr>
      </p:sp>
      <p:sp>
        <p:nvSpPr>
          <p:cNvPr name="Freeform 7" id="7"/>
          <p:cNvSpPr/>
          <p:nvPr/>
        </p:nvSpPr>
        <p:spPr>
          <a:xfrm flipH="false" flipV="false" rot="4025557">
            <a:off x="-519135" y="213715"/>
            <a:ext cx="4443435" cy="4944017"/>
          </a:xfrm>
          <a:custGeom>
            <a:avLst/>
            <a:gdLst/>
            <a:ahLst/>
            <a:cxnLst/>
            <a:rect r="r" b="b" t="t" l="l"/>
            <a:pathLst>
              <a:path h="4944017" w="4443435">
                <a:moveTo>
                  <a:pt x="0" y="0"/>
                </a:moveTo>
                <a:lnTo>
                  <a:pt x="4443435" y="0"/>
                </a:lnTo>
                <a:lnTo>
                  <a:pt x="4443435" y="4944017"/>
                </a:lnTo>
                <a:lnTo>
                  <a:pt x="0" y="4944017"/>
                </a:lnTo>
                <a:lnTo>
                  <a:pt x="0" y="0"/>
                </a:lnTo>
                <a:close/>
              </a:path>
            </a:pathLst>
          </a:custGeom>
          <a:blipFill>
            <a:blip r:embed="rId10"/>
            <a:stretch>
              <a:fillRect l="0" t="0" r="0" b="0"/>
            </a:stretch>
          </a:blipFill>
        </p:spPr>
      </p:sp>
      <p:sp>
        <p:nvSpPr>
          <p:cNvPr name="Freeform 8" id="8"/>
          <p:cNvSpPr/>
          <p:nvPr/>
        </p:nvSpPr>
        <p:spPr>
          <a:xfrm flipH="false" flipV="false" rot="0">
            <a:off x="5184054" y="5694437"/>
            <a:ext cx="1939663" cy="1407138"/>
          </a:xfrm>
          <a:custGeom>
            <a:avLst/>
            <a:gdLst/>
            <a:ahLst/>
            <a:cxnLst/>
            <a:rect r="r" b="b" t="t" l="l"/>
            <a:pathLst>
              <a:path h="1407138" w="1939663">
                <a:moveTo>
                  <a:pt x="0" y="0"/>
                </a:moveTo>
                <a:lnTo>
                  <a:pt x="1939664" y="0"/>
                </a:lnTo>
                <a:lnTo>
                  <a:pt x="1939664" y="1407138"/>
                </a:lnTo>
                <a:lnTo>
                  <a:pt x="0" y="140713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4453580" y="453677"/>
            <a:ext cx="2625041" cy="3500054"/>
          </a:xfrm>
          <a:custGeom>
            <a:avLst/>
            <a:gdLst/>
            <a:ahLst/>
            <a:cxnLst/>
            <a:rect r="r" b="b" t="t" l="l"/>
            <a:pathLst>
              <a:path h="3500054" w="2625041">
                <a:moveTo>
                  <a:pt x="0" y="0"/>
                </a:moveTo>
                <a:lnTo>
                  <a:pt x="2625041" y="0"/>
                </a:lnTo>
                <a:lnTo>
                  <a:pt x="2625041" y="3500054"/>
                </a:lnTo>
                <a:lnTo>
                  <a:pt x="0" y="3500054"/>
                </a:lnTo>
                <a:lnTo>
                  <a:pt x="0" y="0"/>
                </a:lnTo>
                <a:close/>
              </a:path>
            </a:pathLst>
          </a:custGeom>
          <a:blipFill>
            <a:blip r:embed="rId13"/>
            <a:stretch>
              <a:fillRect l="0" t="0" r="0" b="0"/>
            </a:stretch>
          </a:blipFill>
        </p:spPr>
      </p:sp>
      <p:sp>
        <p:nvSpPr>
          <p:cNvPr name="TextBox 10" id="10"/>
          <p:cNvSpPr txBox="true"/>
          <p:nvPr/>
        </p:nvSpPr>
        <p:spPr>
          <a:xfrm rot="0">
            <a:off x="7463349" y="5751587"/>
            <a:ext cx="9073805" cy="2204780"/>
          </a:xfrm>
          <a:prstGeom prst="rect">
            <a:avLst/>
          </a:prstGeom>
        </p:spPr>
        <p:txBody>
          <a:bodyPr anchor="t" rtlCol="false" tIns="0" lIns="0" bIns="0" rIns="0">
            <a:spAutoFit/>
          </a:bodyPr>
          <a:lstStyle/>
          <a:p>
            <a:pPr algn="ctr">
              <a:lnSpc>
                <a:spcPts val="17118"/>
              </a:lnSpc>
            </a:pPr>
            <a:r>
              <a:rPr lang="en-US" sz="14885">
                <a:solidFill>
                  <a:srgbClr val="FFFFFF"/>
                </a:solidFill>
                <a:latin typeface="Cabin Sketch"/>
                <a:ea typeface="Cabin Sketch"/>
                <a:cs typeface="Cabin Sketch"/>
                <a:sym typeface="Cabin Sketch"/>
              </a:rPr>
              <a:t>CAFETERÍA</a:t>
            </a:r>
          </a:p>
        </p:txBody>
      </p:sp>
      <p:sp>
        <p:nvSpPr>
          <p:cNvPr name="TextBox 11" id="11"/>
          <p:cNvSpPr txBox="true"/>
          <p:nvPr/>
        </p:nvSpPr>
        <p:spPr>
          <a:xfrm rot="0">
            <a:off x="8088865" y="5278310"/>
            <a:ext cx="7822772" cy="528587"/>
          </a:xfrm>
          <a:prstGeom prst="rect">
            <a:avLst/>
          </a:prstGeom>
        </p:spPr>
        <p:txBody>
          <a:bodyPr anchor="t" rtlCol="false" tIns="0" lIns="0" bIns="0" rIns="0">
            <a:spAutoFit/>
          </a:bodyPr>
          <a:lstStyle/>
          <a:p>
            <a:pPr algn="ctr">
              <a:lnSpc>
                <a:spcPts val="4317"/>
              </a:lnSpc>
            </a:pPr>
            <a:r>
              <a:rPr lang="en-US" b="true" sz="2977" spc="297">
                <a:solidFill>
                  <a:srgbClr val="FFFFFF"/>
                </a:solidFill>
                <a:latin typeface="Glacial Indifference Bold"/>
                <a:ea typeface="Glacial Indifference Bold"/>
                <a:cs typeface="Glacial Indifference Bold"/>
                <a:sym typeface="Glacial Indifference Bold"/>
              </a:rPr>
              <a:t>BASE DE DATOS</a:t>
            </a:r>
          </a:p>
        </p:txBody>
      </p:sp>
      <p:sp>
        <p:nvSpPr>
          <p:cNvPr name="TextBox 12" id="12"/>
          <p:cNvSpPr txBox="true"/>
          <p:nvPr/>
        </p:nvSpPr>
        <p:spPr>
          <a:xfrm rot="0">
            <a:off x="7463349" y="7653973"/>
            <a:ext cx="9073805" cy="528587"/>
          </a:xfrm>
          <a:prstGeom prst="rect">
            <a:avLst/>
          </a:prstGeom>
        </p:spPr>
        <p:txBody>
          <a:bodyPr anchor="t" rtlCol="false" tIns="0" lIns="0" bIns="0" rIns="0">
            <a:spAutoFit/>
          </a:bodyPr>
          <a:lstStyle/>
          <a:p>
            <a:pPr algn="ctr">
              <a:lnSpc>
                <a:spcPts val="4317"/>
              </a:lnSpc>
            </a:pPr>
            <a:r>
              <a:rPr lang="en-US" sz="2977">
                <a:solidFill>
                  <a:srgbClr val="FFFFFF"/>
                </a:solidFill>
                <a:latin typeface="Glacial Indifference"/>
                <a:ea typeface="Glacial Indifference"/>
                <a:cs typeface="Glacial Indifference"/>
                <a:sym typeface="Glacial Indifference"/>
              </a:rPr>
              <a:t>de gatos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596131" y="787248"/>
            <a:ext cx="16663169" cy="9301078"/>
          </a:xfrm>
          <a:custGeom>
            <a:avLst/>
            <a:gdLst/>
            <a:ahLst/>
            <a:cxnLst/>
            <a:rect r="r" b="b" t="t" l="l"/>
            <a:pathLst>
              <a:path h="9301078" w="16663169">
                <a:moveTo>
                  <a:pt x="0" y="0"/>
                </a:moveTo>
                <a:lnTo>
                  <a:pt x="16663169" y="0"/>
                </a:lnTo>
                <a:lnTo>
                  <a:pt x="16663169" y="9301078"/>
                </a:lnTo>
                <a:lnTo>
                  <a:pt x="0" y="9301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6125" y="7897845"/>
            <a:ext cx="2411074" cy="2389155"/>
          </a:xfrm>
          <a:custGeom>
            <a:avLst/>
            <a:gdLst/>
            <a:ahLst/>
            <a:cxnLst/>
            <a:rect r="r" b="b" t="t" l="l"/>
            <a:pathLst>
              <a:path h="2389155" w="2411074">
                <a:moveTo>
                  <a:pt x="0" y="0"/>
                </a:moveTo>
                <a:lnTo>
                  <a:pt x="2411073" y="0"/>
                </a:lnTo>
                <a:lnTo>
                  <a:pt x="2411073" y="2389155"/>
                </a:lnTo>
                <a:lnTo>
                  <a:pt x="0" y="23891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113739" y="-3229567"/>
            <a:ext cx="5287232" cy="5189567"/>
          </a:xfrm>
          <a:custGeom>
            <a:avLst/>
            <a:gdLst/>
            <a:ahLst/>
            <a:cxnLst/>
            <a:rect r="r" b="b" t="t" l="l"/>
            <a:pathLst>
              <a:path h="5189567" w="5287232">
                <a:moveTo>
                  <a:pt x="0" y="0"/>
                </a:moveTo>
                <a:lnTo>
                  <a:pt x="5287232" y="0"/>
                </a:lnTo>
                <a:lnTo>
                  <a:pt x="5287232" y="5189567"/>
                </a:lnTo>
                <a:lnTo>
                  <a:pt x="0" y="5189567"/>
                </a:lnTo>
                <a:lnTo>
                  <a:pt x="0" y="0"/>
                </a:lnTo>
                <a:close/>
              </a:path>
            </a:pathLst>
          </a:custGeom>
          <a:blipFill>
            <a:blip r:embed="rId6">
              <a:extLst>
                <a:ext uri="{96DAC541-7B7A-43D3-8B79-37D633B846F1}">
                  <asvg:svgBlip xmlns:asvg="http://schemas.microsoft.com/office/drawing/2016/SVG/main" r:embed="rId7"/>
                </a:ext>
              </a:extLst>
            </a:blip>
            <a:stretch>
              <a:fillRect l="0" t="0" r="-75843" b="0"/>
            </a:stretch>
          </a:blipFill>
        </p:spPr>
      </p:sp>
      <p:sp>
        <p:nvSpPr>
          <p:cNvPr name="Freeform 5" id="5"/>
          <p:cNvSpPr/>
          <p:nvPr/>
        </p:nvSpPr>
        <p:spPr>
          <a:xfrm flipH="false" flipV="false" rot="0">
            <a:off x="15107281" y="4341731"/>
            <a:ext cx="3180719" cy="5945269"/>
          </a:xfrm>
          <a:custGeom>
            <a:avLst/>
            <a:gdLst/>
            <a:ahLst/>
            <a:cxnLst/>
            <a:rect r="r" b="b" t="t" l="l"/>
            <a:pathLst>
              <a:path h="5945269" w="3180719">
                <a:moveTo>
                  <a:pt x="0" y="0"/>
                </a:moveTo>
                <a:lnTo>
                  <a:pt x="3180719" y="0"/>
                </a:lnTo>
                <a:lnTo>
                  <a:pt x="3180719" y="5945269"/>
                </a:lnTo>
                <a:lnTo>
                  <a:pt x="0" y="5945269"/>
                </a:lnTo>
                <a:lnTo>
                  <a:pt x="0" y="0"/>
                </a:lnTo>
                <a:close/>
              </a:path>
            </a:pathLst>
          </a:custGeom>
          <a:blipFill>
            <a:blip r:embed="rId8"/>
            <a:stretch>
              <a:fillRect l="0" t="0" r="0" b="0"/>
            </a:stretch>
          </a:blipFill>
        </p:spPr>
      </p:sp>
      <p:sp>
        <p:nvSpPr>
          <p:cNvPr name="TextBox 6" id="6"/>
          <p:cNvSpPr txBox="true"/>
          <p:nvPr/>
        </p:nvSpPr>
        <p:spPr>
          <a:xfrm rot="0">
            <a:off x="4710080" y="825348"/>
            <a:ext cx="8435271" cy="1626775"/>
          </a:xfrm>
          <a:prstGeom prst="rect">
            <a:avLst/>
          </a:prstGeom>
        </p:spPr>
        <p:txBody>
          <a:bodyPr anchor="t" rtlCol="false" tIns="0" lIns="0" bIns="0" rIns="0">
            <a:spAutoFit/>
          </a:bodyPr>
          <a:lstStyle/>
          <a:p>
            <a:pPr algn="ctr">
              <a:lnSpc>
                <a:spcPts val="12600"/>
              </a:lnSpc>
            </a:pPr>
            <a:r>
              <a:rPr lang="en-US" sz="10956">
                <a:solidFill>
                  <a:srgbClr val="343434"/>
                </a:solidFill>
                <a:latin typeface="Cabin Sketch"/>
                <a:ea typeface="Cabin Sketch"/>
                <a:cs typeface="Cabin Sketch"/>
                <a:sym typeface="Cabin Sketch"/>
              </a:rPr>
              <a:t>PROPOSITO</a:t>
            </a:r>
          </a:p>
        </p:txBody>
      </p:sp>
      <p:sp>
        <p:nvSpPr>
          <p:cNvPr name="TextBox 7" id="7"/>
          <p:cNvSpPr txBox="true"/>
          <p:nvPr/>
        </p:nvSpPr>
        <p:spPr>
          <a:xfrm rot="0">
            <a:off x="2119983" y="2277498"/>
            <a:ext cx="13615464" cy="6054715"/>
          </a:xfrm>
          <a:prstGeom prst="rect">
            <a:avLst/>
          </a:prstGeom>
        </p:spPr>
        <p:txBody>
          <a:bodyPr anchor="t" rtlCol="false" tIns="0" lIns="0" bIns="0" rIns="0">
            <a:spAutoFit/>
          </a:bodyPr>
          <a:lstStyle/>
          <a:p>
            <a:pPr algn="just">
              <a:lnSpc>
                <a:spcPts val="5365"/>
              </a:lnSpc>
            </a:pPr>
            <a:r>
              <a:rPr lang="en-US" sz="3700">
                <a:solidFill>
                  <a:srgbClr val="343434"/>
                </a:solidFill>
                <a:latin typeface="Glacial Indifference"/>
                <a:ea typeface="Glacial Indifference"/>
                <a:cs typeface="Glacial Indifference"/>
                <a:sym typeface="Glacial Indifference"/>
              </a:rPr>
              <a:t>El propósito de este proyecto es generar una base de datos que ayude a la perfecta administración de una cafetería, en donde no solo se atenderán a los clientes con bebidas o aperitivos, sino que tambien tendrán la oportunidad de convivir con gatos rescatados de la calle en el cual se  sientan seguros y se les busque un hogar.</a:t>
            </a:r>
          </a:p>
          <a:p>
            <a:pPr algn="just">
              <a:lnSpc>
                <a:spcPts val="5365"/>
              </a:lnSpc>
            </a:pPr>
            <a:r>
              <a:rPr lang="en-US" sz="3700">
                <a:solidFill>
                  <a:srgbClr val="343434"/>
                </a:solidFill>
                <a:latin typeface="Glacial Indifference"/>
                <a:ea typeface="Glacial Indifference"/>
                <a:cs typeface="Glacial Indifference"/>
                <a:sym typeface="Glacial Indifference"/>
              </a:rPr>
              <a:t>Este tipo de lugares no son tan comunes debido a lo difícil que es mantener un refugio de animales, por eso la idea paso por mi mente al buscar algo que no se haya visto antes, ademas, es un establecimiento del cual me gustaria manejar un futuro.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16776199" y="4702017"/>
            <a:ext cx="5931272" cy="5821710"/>
          </a:xfrm>
          <a:custGeom>
            <a:avLst/>
            <a:gdLst/>
            <a:ahLst/>
            <a:cxnLst/>
            <a:rect r="r" b="b" t="t" l="l"/>
            <a:pathLst>
              <a:path h="5821710" w="5931272">
                <a:moveTo>
                  <a:pt x="0" y="0"/>
                </a:moveTo>
                <a:lnTo>
                  <a:pt x="5931272" y="0"/>
                </a:lnTo>
                <a:lnTo>
                  <a:pt x="5931272" y="5821710"/>
                </a:lnTo>
                <a:lnTo>
                  <a:pt x="0" y="5821710"/>
                </a:lnTo>
                <a:lnTo>
                  <a:pt x="0" y="0"/>
                </a:lnTo>
                <a:close/>
              </a:path>
            </a:pathLst>
          </a:custGeom>
          <a:blipFill>
            <a:blip r:embed="rId2">
              <a:extLst>
                <a:ext uri="{96DAC541-7B7A-43D3-8B79-37D633B846F1}">
                  <asvg:svgBlip xmlns:asvg="http://schemas.microsoft.com/office/drawing/2016/SVG/main" r:embed="rId3"/>
                </a:ext>
              </a:extLst>
            </a:blip>
            <a:stretch>
              <a:fillRect l="0" t="0" r="-75843" b="0"/>
            </a:stretch>
          </a:blipFill>
        </p:spPr>
      </p:sp>
      <p:sp>
        <p:nvSpPr>
          <p:cNvPr name="Freeform 3" id="3"/>
          <p:cNvSpPr/>
          <p:nvPr/>
        </p:nvSpPr>
        <p:spPr>
          <a:xfrm flipH="false" flipV="false" rot="0">
            <a:off x="688357" y="782860"/>
            <a:ext cx="17130360" cy="8761561"/>
          </a:xfrm>
          <a:custGeom>
            <a:avLst/>
            <a:gdLst/>
            <a:ahLst/>
            <a:cxnLst/>
            <a:rect r="r" b="b" t="t" l="l"/>
            <a:pathLst>
              <a:path h="8761561" w="17130360">
                <a:moveTo>
                  <a:pt x="0" y="0"/>
                </a:moveTo>
                <a:lnTo>
                  <a:pt x="17130359" y="0"/>
                </a:lnTo>
                <a:lnTo>
                  <a:pt x="17130359" y="8761561"/>
                </a:lnTo>
                <a:lnTo>
                  <a:pt x="0" y="8761561"/>
                </a:lnTo>
                <a:lnTo>
                  <a:pt x="0" y="0"/>
                </a:lnTo>
                <a:close/>
              </a:path>
            </a:pathLst>
          </a:custGeom>
          <a:blipFill>
            <a:blip r:embed="rId4">
              <a:extLst>
                <a:ext uri="{96DAC541-7B7A-43D3-8B79-37D633B846F1}">
                  <asvg:svgBlip xmlns:asvg="http://schemas.microsoft.com/office/drawing/2016/SVG/main" r:embed="rId5"/>
                </a:ext>
              </a:extLst>
            </a:blip>
            <a:stretch>
              <a:fillRect l="0" t="0" r="0" b="-9134"/>
            </a:stretch>
          </a:blipFill>
        </p:spPr>
      </p:sp>
      <p:sp>
        <p:nvSpPr>
          <p:cNvPr name="Freeform 4" id="4"/>
          <p:cNvSpPr/>
          <p:nvPr/>
        </p:nvSpPr>
        <p:spPr>
          <a:xfrm flipH="false" flipV="false" rot="0">
            <a:off x="0" y="6727256"/>
            <a:ext cx="2058179" cy="3559744"/>
          </a:xfrm>
          <a:custGeom>
            <a:avLst/>
            <a:gdLst/>
            <a:ahLst/>
            <a:cxnLst/>
            <a:rect r="r" b="b" t="t" l="l"/>
            <a:pathLst>
              <a:path h="3559744" w="2058179">
                <a:moveTo>
                  <a:pt x="0" y="0"/>
                </a:moveTo>
                <a:lnTo>
                  <a:pt x="2058179" y="0"/>
                </a:lnTo>
                <a:lnTo>
                  <a:pt x="2058179" y="3559744"/>
                </a:lnTo>
                <a:lnTo>
                  <a:pt x="0" y="35597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0" y="820960"/>
            <a:ext cx="18288000" cy="1542415"/>
          </a:xfrm>
          <a:prstGeom prst="rect">
            <a:avLst/>
          </a:prstGeom>
        </p:spPr>
        <p:txBody>
          <a:bodyPr anchor="t" rtlCol="false" tIns="0" lIns="0" bIns="0" rIns="0">
            <a:spAutoFit/>
          </a:bodyPr>
          <a:lstStyle/>
          <a:p>
            <a:pPr algn="ctr">
              <a:lnSpc>
                <a:spcPts val="11960"/>
              </a:lnSpc>
            </a:pPr>
            <a:r>
              <a:rPr lang="en-US" sz="10400">
                <a:solidFill>
                  <a:srgbClr val="343434"/>
                </a:solidFill>
                <a:latin typeface="Cabin Sketch"/>
                <a:ea typeface="Cabin Sketch"/>
                <a:cs typeface="Cabin Sketch"/>
                <a:sym typeface="Cabin Sketch"/>
              </a:rPr>
              <a:t>DESCRIPCION DE LAS TABLAS</a:t>
            </a:r>
          </a:p>
        </p:txBody>
      </p:sp>
      <p:sp>
        <p:nvSpPr>
          <p:cNvPr name="TextBox 6" id="6"/>
          <p:cNvSpPr txBox="true"/>
          <p:nvPr/>
        </p:nvSpPr>
        <p:spPr>
          <a:xfrm rot="0">
            <a:off x="2058179" y="2487872"/>
            <a:ext cx="14410238" cy="5696277"/>
          </a:xfrm>
          <a:prstGeom prst="rect">
            <a:avLst/>
          </a:prstGeom>
        </p:spPr>
        <p:txBody>
          <a:bodyPr anchor="t" rtlCol="false" tIns="0" lIns="0" bIns="0" rIns="0">
            <a:spAutoFit/>
          </a:bodyPr>
          <a:lstStyle/>
          <a:p>
            <a:pPr algn="just" marL="839785" indent="-419893" lvl="1">
              <a:lnSpc>
                <a:spcPts val="5640"/>
              </a:lnSpc>
              <a:buFont typeface="Arial"/>
              <a:buChar char="•"/>
            </a:pPr>
            <a:r>
              <a:rPr lang="en-US" b="true" sz="3889">
                <a:solidFill>
                  <a:srgbClr val="343434"/>
                </a:solidFill>
                <a:latin typeface="Glacial Indifference Bold"/>
                <a:ea typeface="Glacial Indifference Bold"/>
                <a:cs typeface="Glacial Indifference Bold"/>
                <a:sym typeface="Glacial Indifference Bold"/>
              </a:rPr>
              <a:t>Clientes: </a:t>
            </a:r>
            <a:r>
              <a:rPr lang="en-US" sz="3889">
                <a:solidFill>
                  <a:srgbClr val="343434"/>
                </a:solidFill>
                <a:latin typeface="Glacial Indifference"/>
                <a:ea typeface="Glacial Indifference"/>
                <a:cs typeface="Glacial Indifference"/>
                <a:sym typeface="Glacial Indifference"/>
              </a:rPr>
              <a:t>Tendrá el propósito de almacenar la información básica de cada cliente que visite la cafetería.</a:t>
            </a:r>
          </a:p>
          <a:p>
            <a:pPr algn="just" marL="839785" indent="-419893" lvl="1">
              <a:lnSpc>
                <a:spcPts val="5640"/>
              </a:lnSpc>
              <a:buFont typeface="Arial"/>
              <a:buChar char="•"/>
            </a:pPr>
            <a:r>
              <a:rPr lang="en-US" b="true" sz="3889">
                <a:solidFill>
                  <a:srgbClr val="343434"/>
                </a:solidFill>
                <a:latin typeface="Glacial Indifference Bold"/>
                <a:ea typeface="Glacial Indifference Bold"/>
                <a:cs typeface="Glacial Indifference Bold"/>
                <a:sym typeface="Glacial Indifference Bold"/>
              </a:rPr>
              <a:t>Reservas:</a:t>
            </a:r>
            <a:r>
              <a:rPr lang="en-US" sz="3889">
                <a:solidFill>
                  <a:srgbClr val="343434"/>
                </a:solidFill>
                <a:latin typeface="Glacial Indifference"/>
                <a:ea typeface="Glacial Indifference"/>
                <a:cs typeface="Glacial Indifference"/>
                <a:sym typeface="Glacial Indifference"/>
              </a:rPr>
              <a:t> Dar la opción a los clientes de reservar su mesa de cierta hora a cierta hora.</a:t>
            </a:r>
          </a:p>
          <a:p>
            <a:pPr algn="just" marL="839785" indent="-419893" lvl="1">
              <a:lnSpc>
                <a:spcPts val="5640"/>
              </a:lnSpc>
              <a:buFont typeface="Arial"/>
              <a:buChar char="•"/>
            </a:pPr>
            <a:r>
              <a:rPr lang="en-US" b="true" sz="3889">
                <a:solidFill>
                  <a:srgbClr val="343434"/>
                </a:solidFill>
                <a:latin typeface="Glacial Indifference Bold"/>
                <a:ea typeface="Glacial Indifference Bold"/>
                <a:cs typeface="Glacial Indifference Bold"/>
                <a:sym typeface="Glacial Indifference Bold"/>
              </a:rPr>
              <a:t>Menú:</a:t>
            </a:r>
            <a:r>
              <a:rPr lang="en-US" sz="3889">
                <a:solidFill>
                  <a:srgbClr val="343434"/>
                </a:solidFill>
                <a:latin typeface="Glacial Indifference"/>
                <a:ea typeface="Glacial Indifference"/>
                <a:cs typeface="Glacial Indifference"/>
                <a:sym typeface="Glacial Indifference"/>
              </a:rPr>
              <a:t> Es necesario incluir un menú al tratarse de un restaurante, para tener catalogado que alimentos ofrecen.</a:t>
            </a:r>
          </a:p>
          <a:p>
            <a:pPr algn="just" marL="839785" indent="-419893" lvl="1">
              <a:lnSpc>
                <a:spcPts val="5640"/>
              </a:lnSpc>
              <a:buFont typeface="Arial"/>
              <a:buChar char="•"/>
            </a:pPr>
            <a:r>
              <a:rPr lang="en-US" b="true" sz="3889">
                <a:solidFill>
                  <a:srgbClr val="343434"/>
                </a:solidFill>
                <a:latin typeface="Glacial Indifference Bold"/>
                <a:ea typeface="Glacial Indifference Bold"/>
                <a:cs typeface="Glacial Indifference Bold"/>
                <a:sym typeface="Glacial Indifference Bold"/>
              </a:rPr>
              <a:t>Pedidos:</a:t>
            </a:r>
            <a:r>
              <a:rPr lang="en-US" sz="3889">
                <a:solidFill>
                  <a:srgbClr val="343434"/>
                </a:solidFill>
                <a:latin typeface="Glacial Indifference"/>
                <a:ea typeface="Glacial Indifference"/>
                <a:cs typeface="Glacial Indifference"/>
                <a:sym typeface="Glacial Indifference"/>
              </a:rPr>
              <a:t> Donde cada cliente puede ordenar sus aperitivos y sumar su cuenta.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16776199" y="4702017"/>
            <a:ext cx="5931272" cy="5821710"/>
          </a:xfrm>
          <a:custGeom>
            <a:avLst/>
            <a:gdLst/>
            <a:ahLst/>
            <a:cxnLst/>
            <a:rect r="r" b="b" t="t" l="l"/>
            <a:pathLst>
              <a:path h="5821710" w="5931272">
                <a:moveTo>
                  <a:pt x="0" y="0"/>
                </a:moveTo>
                <a:lnTo>
                  <a:pt x="5931272" y="0"/>
                </a:lnTo>
                <a:lnTo>
                  <a:pt x="5931272" y="5821710"/>
                </a:lnTo>
                <a:lnTo>
                  <a:pt x="0" y="5821710"/>
                </a:lnTo>
                <a:lnTo>
                  <a:pt x="0" y="0"/>
                </a:lnTo>
                <a:close/>
              </a:path>
            </a:pathLst>
          </a:custGeom>
          <a:blipFill>
            <a:blip r:embed="rId2">
              <a:extLst>
                <a:ext uri="{96DAC541-7B7A-43D3-8B79-37D633B846F1}">
                  <asvg:svgBlip xmlns:asvg="http://schemas.microsoft.com/office/drawing/2016/SVG/main" r:embed="rId3"/>
                </a:ext>
              </a:extLst>
            </a:blip>
            <a:stretch>
              <a:fillRect l="0" t="0" r="-75843" b="0"/>
            </a:stretch>
          </a:blipFill>
        </p:spPr>
      </p:sp>
      <p:sp>
        <p:nvSpPr>
          <p:cNvPr name="Freeform 3" id="3"/>
          <p:cNvSpPr/>
          <p:nvPr/>
        </p:nvSpPr>
        <p:spPr>
          <a:xfrm flipH="false" flipV="false" rot="0">
            <a:off x="688357" y="782860"/>
            <a:ext cx="17130360" cy="8761561"/>
          </a:xfrm>
          <a:custGeom>
            <a:avLst/>
            <a:gdLst/>
            <a:ahLst/>
            <a:cxnLst/>
            <a:rect r="r" b="b" t="t" l="l"/>
            <a:pathLst>
              <a:path h="8761561" w="17130360">
                <a:moveTo>
                  <a:pt x="0" y="0"/>
                </a:moveTo>
                <a:lnTo>
                  <a:pt x="17130359" y="0"/>
                </a:lnTo>
                <a:lnTo>
                  <a:pt x="17130359" y="8761561"/>
                </a:lnTo>
                <a:lnTo>
                  <a:pt x="0" y="8761561"/>
                </a:lnTo>
                <a:lnTo>
                  <a:pt x="0" y="0"/>
                </a:lnTo>
                <a:close/>
              </a:path>
            </a:pathLst>
          </a:custGeom>
          <a:blipFill>
            <a:blip r:embed="rId4">
              <a:extLst>
                <a:ext uri="{96DAC541-7B7A-43D3-8B79-37D633B846F1}">
                  <asvg:svgBlip xmlns:asvg="http://schemas.microsoft.com/office/drawing/2016/SVG/main" r:embed="rId5"/>
                </a:ext>
              </a:extLst>
            </a:blip>
            <a:stretch>
              <a:fillRect l="0" t="0" r="0" b="-9134"/>
            </a:stretch>
          </a:blipFill>
        </p:spPr>
      </p:sp>
      <p:sp>
        <p:nvSpPr>
          <p:cNvPr name="Freeform 4" id="4"/>
          <p:cNvSpPr/>
          <p:nvPr/>
        </p:nvSpPr>
        <p:spPr>
          <a:xfrm flipH="false" flipV="false" rot="0">
            <a:off x="0" y="6727256"/>
            <a:ext cx="2058179" cy="3559744"/>
          </a:xfrm>
          <a:custGeom>
            <a:avLst/>
            <a:gdLst/>
            <a:ahLst/>
            <a:cxnLst/>
            <a:rect r="r" b="b" t="t" l="l"/>
            <a:pathLst>
              <a:path h="3559744" w="2058179">
                <a:moveTo>
                  <a:pt x="0" y="0"/>
                </a:moveTo>
                <a:lnTo>
                  <a:pt x="2058179" y="0"/>
                </a:lnTo>
                <a:lnTo>
                  <a:pt x="2058179" y="3559744"/>
                </a:lnTo>
                <a:lnTo>
                  <a:pt x="0" y="35597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0" y="820960"/>
            <a:ext cx="18288000" cy="1542415"/>
          </a:xfrm>
          <a:prstGeom prst="rect">
            <a:avLst/>
          </a:prstGeom>
        </p:spPr>
        <p:txBody>
          <a:bodyPr anchor="t" rtlCol="false" tIns="0" lIns="0" bIns="0" rIns="0">
            <a:spAutoFit/>
          </a:bodyPr>
          <a:lstStyle/>
          <a:p>
            <a:pPr algn="ctr">
              <a:lnSpc>
                <a:spcPts val="11960"/>
              </a:lnSpc>
            </a:pPr>
            <a:r>
              <a:rPr lang="en-US" sz="10400">
                <a:solidFill>
                  <a:srgbClr val="343434"/>
                </a:solidFill>
                <a:latin typeface="Cabin Sketch"/>
                <a:ea typeface="Cabin Sketch"/>
                <a:cs typeface="Cabin Sketch"/>
                <a:sym typeface="Cabin Sketch"/>
              </a:rPr>
              <a:t>DESCRIPCION DE LAS TABLAS</a:t>
            </a:r>
          </a:p>
        </p:txBody>
      </p:sp>
      <p:sp>
        <p:nvSpPr>
          <p:cNvPr name="TextBox 6" id="6"/>
          <p:cNvSpPr txBox="true"/>
          <p:nvPr/>
        </p:nvSpPr>
        <p:spPr>
          <a:xfrm rot="0">
            <a:off x="1726258" y="1563793"/>
            <a:ext cx="15898636" cy="7727054"/>
          </a:xfrm>
          <a:prstGeom prst="rect">
            <a:avLst/>
          </a:prstGeom>
        </p:spPr>
        <p:txBody>
          <a:bodyPr anchor="t" rtlCol="false" tIns="0" lIns="0" bIns="0" rIns="0">
            <a:spAutoFit/>
          </a:bodyPr>
          <a:lstStyle/>
          <a:p>
            <a:pPr algn="just">
              <a:lnSpc>
                <a:spcPts val="5550"/>
              </a:lnSpc>
            </a:pPr>
          </a:p>
          <a:p>
            <a:pPr algn="just" marL="826511" indent="-413255" lvl="1">
              <a:lnSpc>
                <a:spcPts val="5550"/>
              </a:lnSpc>
              <a:buFont typeface="Arial"/>
              <a:buChar char="•"/>
            </a:pPr>
            <a:r>
              <a:rPr lang="en-US" b="true" sz="3828">
                <a:solidFill>
                  <a:srgbClr val="343434"/>
                </a:solidFill>
                <a:latin typeface="Glacial Indifference Bold"/>
                <a:ea typeface="Glacial Indifference Bold"/>
                <a:cs typeface="Glacial Indifference Bold"/>
                <a:sym typeface="Glacial Indifference Bold"/>
              </a:rPr>
              <a:t>Gatos:</a:t>
            </a:r>
            <a:r>
              <a:rPr lang="en-US" sz="3828">
                <a:solidFill>
                  <a:srgbClr val="343434"/>
                </a:solidFill>
                <a:latin typeface="Glacial Indifference"/>
                <a:ea typeface="Glacial Indifference"/>
                <a:cs typeface="Glacial Indifference"/>
                <a:sym typeface="Glacial Indifference"/>
              </a:rPr>
              <a:t> Asi cada gato estará identificado con su respectivo nombre, edad y datos necesarios en cada uno.</a:t>
            </a:r>
          </a:p>
          <a:p>
            <a:pPr algn="just" marL="826511" indent="-413255" lvl="1">
              <a:lnSpc>
                <a:spcPts val="5550"/>
              </a:lnSpc>
              <a:buFont typeface="Arial"/>
              <a:buChar char="•"/>
            </a:pPr>
            <a:r>
              <a:rPr lang="en-US" b="true" sz="3828">
                <a:solidFill>
                  <a:srgbClr val="343434"/>
                </a:solidFill>
                <a:latin typeface="Glacial Indifference Bold"/>
                <a:ea typeface="Glacial Indifference Bold"/>
                <a:cs typeface="Glacial Indifference Bold"/>
                <a:sym typeface="Glacial Indifference Bold"/>
              </a:rPr>
              <a:t>Empleados: </a:t>
            </a:r>
            <a:r>
              <a:rPr lang="en-US" sz="3828">
                <a:solidFill>
                  <a:srgbClr val="343434"/>
                </a:solidFill>
                <a:latin typeface="Glacial Indifference"/>
                <a:ea typeface="Glacial Indifference"/>
                <a:cs typeface="Glacial Indifference"/>
                <a:sym typeface="Glacial Indifference"/>
              </a:rPr>
              <a:t>Son necesarios para tener un rol del cual los empleados puedan cubrir, como meseros, administradores, cocineros, cuidadores de los gatos, etc.</a:t>
            </a:r>
          </a:p>
          <a:p>
            <a:pPr algn="just" marL="826511" indent="-413255" lvl="1">
              <a:lnSpc>
                <a:spcPts val="5550"/>
              </a:lnSpc>
              <a:buFont typeface="Arial"/>
              <a:buChar char="•"/>
            </a:pPr>
            <a:r>
              <a:rPr lang="en-US" b="true" sz="3828">
                <a:solidFill>
                  <a:srgbClr val="343434"/>
                </a:solidFill>
                <a:latin typeface="Glacial Indifference Bold"/>
                <a:ea typeface="Glacial Indifference Bold"/>
                <a:cs typeface="Glacial Indifference Bold"/>
                <a:sym typeface="Glacial Indifference Bold"/>
              </a:rPr>
              <a:t>Adopciones:</a:t>
            </a:r>
            <a:r>
              <a:rPr lang="en-US" sz="3828">
                <a:solidFill>
                  <a:srgbClr val="343434"/>
                </a:solidFill>
                <a:latin typeface="Glacial Indifference"/>
                <a:ea typeface="Glacial Indifference"/>
                <a:cs typeface="Glacial Indifference"/>
                <a:sym typeface="Glacial Indifference"/>
              </a:rPr>
              <a:t> Sera para obtener el registro de cada cliente que desee adoptar a alguno de los gatos de la cafetería.</a:t>
            </a:r>
          </a:p>
          <a:p>
            <a:pPr algn="just" marL="826511" indent="-413255" lvl="1">
              <a:lnSpc>
                <a:spcPts val="5550"/>
              </a:lnSpc>
              <a:buFont typeface="Arial"/>
              <a:buChar char="•"/>
            </a:pPr>
            <a:r>
              <a:rPr lang="en-US" b="true" sz="3828">
                <a:solidFill>
                  <a:srgbClr val="343434"/>
                </a:solidFill>
                <a:latin typeface="Glacial Indifference Bold"/>
                <a:ea typeface="Glacial Indifference Bold"/>
                <a:cs typeface="Glacial Indifference Bold"/>
                <a:sym typeface="Glacial Indifference Bold"/>
              </a:rPr>
              <a:t>Áreas: </a:t>
            </a:r>
            <a:r>
              <a:rPr lang="en-US" sz="3828">
                <a:solidFill>
                  <a:srgbClr val="343434"/>
                </a:solidFill>
                <a:latin typeface="Glacial Indifference"/>
                <a:ea typeface="Glacial Indifference"/>
                <a:cs typeface="Glacial Indifference"/>
                <a:sym typeface="Glacial Indifference"/>
              </a:rPr>
              <a:t>Finalmente las áreas de comida, es necesario contar las mesas disponibles u ocupada en cada área de la cafetería, asi sera posible un mejor manejo de las reservas.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364454" y="617196"/>
            <a:ext cx="17721108" cy="9063707"/>
          </a:xfrm>
          <a:custGeom>
            <a:avLst/>
            <a:gdLst/>
            <a:ahLst/>
            <a:cxnLst/>
            <a:rect r="r" b="b" t="t" l="l"/>
            <a:pathLst>
              <a:path h="9063707" w="17721108">
                <a:moveTo>
                  <a:pt x="0" y="0"/>
                </a:moveTo>
                <a:lnTo>
                  <a:pt x="17721108" y="0"/>
                </a:lnTo>
                <a:lnTo>
                  <a:pt x="17721108" y="9063707"/>
                </a:lnTo>
                <a:lnTo>
                  <a:pt x="0" y="9063707"/>
                </a:lnTo>
                <a:lnTo>
                  <a:pt x="0" y="0"/>
                </a:lnTo>
                <a:close/>
              </a:path>
            </a:pathLst>
          </a:custGeom>
          <a:blipFill>
            <a:blip r:embed="rId2">
              <a:extLst>
                <a:ext uri="{96DAC541-7B7A-43D3-8B79-37D633B846F1}">
                  <asvg:svgBlip xmlns:asvg="http://schemas.microsoft.com/office/drawing/2016/SVG/main" r:embed="rId3"/>
                </a:ext>
              </a:extLst>
            </a:blip>
            <a:stretch>
              <a:fillRect l="0" t="0" r="0" b="-9134"/>
            </a:stretch>
          </a:blipFill>
        </p:spPr>
      </p:sp>
      <p:sp>
        <p:nvSpPr>
          <p:cNvPr name="Freeform 3" id="3"/>
          <p:cNvSpPr/>
          <p:nvPr/>
        </p:nvSpPr>
        <p:spPr>
          <a:xfrm flipH="false" flipV="false" rot="0">
            <a:off x="3436351" y="1356350"/>
            <a:ext cx="11018979" cy="8787636"/>
          </a:xfrm>
          <a:custGeom>
            <a:avLst/>
            <a:gdLst/>
            <a:ahLst/>
            <a:cxnLst/>
            <a:rect r="r" b="b" t="t" l="l"/>
            <a:pathLst>
              <a:path h="8787636" w="11018979">
                <a:moveTo>
                  <a:pt x="0" y="0"/>
                </a:moveTo>
                <a:lnTo>
                  <a:pt x="11018979" y="0"/>
                </a:lnTo>
                <a:lnTo>
                  <a:pt x="11018979" y="8787636"/>
                </a:lnTo>
                <a:lnTo>
                  <a:pt x="0" y="8787636"/>
                </a:lnTo>
                <a:lnTo>
                  <a:pt x="0" y="0"/>
                </a:lnTo>
                <a:close/>
              </a:path>
            </a:pathLst>
          </a:custGeom>
          <a:blipFill>
            <a:blip r:embed="rId4"/>
            <a:stretch>
              <a:fillRect l="0" t="0" r="0" b="0"/>
            </a:stretch>
          </a:blipFill>
        </p:spPr>
      </p:sp>
      <p:sp>
        <p:nvSpPr>
          <p:cNvPr name="Freeform 4" id="4"/>
          <p:cNvSpPr/>
          <p:nvPr/>
        </p:nvSpPr>
        <p:spPr>
          <a:xfrm flipH="true" flipV="false" rot="0">
            <a:off x="0" y="5942188"/>
            <a:ext cx="3436351" cy="4344812"/>
          </a:xfrm>
          <a:custGeom>
            <a:avLst/>
            <a:gdLst/>
            <a:ahLst/>
            <a:cxnLst/>
            <a:rect r="r" b="b" t="t" l="l"/>
            <a:pathLst>
              <a:path h="4344812" w="3436351">
                <a:moveTo>
                  <a:pt x="3436351" y="0"/>
                </a:moveTo>
                <a:lnTo>
                  <a:pt x="0" y="0"/>
                </a:lnTo>
                <a:lnTo>
                  <a:pt x="0" y="4344812"/>
                </a:lnTo>
                <a:lnTo>
                  <a:pt x="3436351" y="4344812"/>
                </a:lnTo>
                <a:lnTo>
                  <a:pt x="343635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881761" y="1356350"/>
            <a:ext cx="3882875" cy="4114800"/>
          </a:xfrm>
          <a:custGeom>
            <a:avLst/>
            <a:gdLst/>
            <a:ahLst/>
            <a:cxnLst/>
            <a:rect r="r" b="b" t="t" l="l"/>
            <a:pathLst>
              <a:path h="4114800" w="3882875">
                <a:moveTo>
                  <a:pt x="0" y="0"/>
                </a:moveTo>
                <a:lnTo>
                  <a:pt x="3882875" y="0"/>
                </a:lnTo>
                <a:lnTo>
                  <a:pt x="3882875"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0" y="67935"/>
            <a:ext cx="18288000" cy="1542415"/>
          </a:xfrm>
          <a:prstGeom prst="rect">
            <a:avLst/>
          </a:prstGeom>
        </p:spPr>
        <p:txBody>
          <a:bodyPr anchor="t" rtlCol="false" tIns="0" lIns="0" bIns="0" rIns="0">
            <a:spAutoFit/>
          </a:bodyPr>
          <a:lstStyle/>
          <a:p>
            <a:pPr algn="ctr">
              <a:lnSpc>
                <a:spcPts val="11960"/>
              </a:lnSpc>
            </a:pPr>
            <a:r>
              <a:rPr lang="en-US" sz="10400">
                <a:solidFill>
                  <a:srgbClr val="000000"/>
                </a:solidFill>
                <a:latin typeface="Cabin Sketch"/>
                <a:ea typeface="Cabin Sketch"/>
                <a:cs typeface="Cabin Sketch"/>
                <a:sym typeface="Cabin Sketch"/>
              </a:rPr>
              <a:t>DIAGRAMA ENTIDAD RELACION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10838646" y="-618048"/>
            <a:ext cx="6637008" cy="6514411"/>
          </a:xfrm>
          <a:custGeom>
            <a:avLst/>
            <a:gdLst/>
            <a:ahLst/>
            <a:cxnLst/>
            <a:rect r="r" b="b" t="t" l="l"/>
            <a:pathLst>
              <a:path h="6514411" w="6637008">
                <a:moveTo>
                  <a:pt x="0" y="0"/>
                </a:moveTo>
                <a:lnTo>
                  <a:pt x="6637009" y="0"/>
                </a:lnTo>
                <a:lnTo>
                  <a:pt x="6637009" y="6514410"/>
                </a:lnTo>
                <a:lnTo>
                  <a:pt x="0" y="6514410"/>
                </a:lnTo>
                <a:lnTo>
                  <a:pt x="0" y="0"/>
                </a:lnTo>
                <a:close/>
              </a:path>
            </a:pathLst>
          </a:custGeom>
          <a:blipFill>
            <a:blip r:embed="rId2">
              <a:extLst>
                <a:ext uri="{96DAC541-7B7A-43D3-8B79-37D633B846F1}">
                  <asvg:svgBlip xmlns:asvg="http://schemas.microsoft.com/office/drawing/2016/SVG/main" r:embed="rId3"/>
                </a:ext>
              </a:extLst>
            </a:blip>
            <a:stretch>
              <a:fillRect l="0" t="0" r="-75843" b="0"/>
            </a:stretch>
          </a:blipFill>
        </p:spPr>
      </p:sp>
      <p:sp>
        <p:nvSpPr>
          <p:cNvPr name="Freeform 3" id="3"/>
          <p:cNvSpPr/>
          <p:nvPr/>
        </p:nvSpPr>
        <p:spPr>
          <a:xfrm flipH="false" flipV="false" rot="0">
            <a:off x="-4900156" y="2193428"/>
            <a:ext cx="6637008" cy="6514411"/>
          </a:xfrm>
          <a:custGeom>
            <a:avLst/>
            <a:gdLst/>
            <a:ahLst/>
            <a:cxnLst/>
            <a:rect r="r" b="b" t="t" l="l"/>
            <a:pathLst>
              <a:path h="6514411" w="6637008">
                <a:moveTo>
                  <a:pt x="0" y="0"/>
                </a:moveTo>
                <a:lnTo>
                  <a:pt x="6637008" y="0"/>
                </a:lnTo>
                <a:lnTo>
                  <a:pt x="6637008" y="6514411"/>
                </a:lnTo>
                <a:lnTo>
                  <a:pt x="0" y="6514411"/>
                </a:lnTo>
                <a:lnTo>
                  <a:pt x="0" y="0"/>
                </a:lnTo>
                <a:close/>
              </a:path>
            </a:pathLst>
          </a:custGeom>
          <a:blipFill>
            <a:blip r:embed="rId4">
              <a:extLst>
                <a:ext uri="{96DAC541-7B7A-43D3-8B79-37D633B846F1}">
                  <asvg:svgBlip xmlns:asvg="http://schemas.microsoft.com/office/drawing/2016/SVG/main" r:embed="rId5"/>
                </a:ext>
              </a:extLst>
            </a:blip>
            <a:stretch>
              <a:fillRect l="0" t="0" r="-75843" b="0"/>
            </a:stretch>
          </a:blipFill>
        </p:spPr>
      </p:sp>
      <p:sp>
        <p:nvSpPr>
          <p:cNvPr name="Freeform 4" id="4"/>
          <p:cNvSpPr/>
          <p:nvPr/>
        </p:nvSpPr>
        <p:spPr>
          <a:xfrm flipH="false" flipV="false" rot="0">
            <a:off x="1028700" y="1145918"/>
            <a:ext cx="10518098" cy="2156592"/>
          </a:xfrm>
          <a:custGeom>
            <a:avLst/>
            <a:gdLst/>
            <a:ahLst/>
            <a:cxnLst/>
            <a:rect r="r" b="b" t="t" l="l"/>
            <a:pathLst>
              <a:path h="2156592" w="10518098">
                <a:moveTo>
                  <a:pt x="0" y="0"/>
                </a:moveTo>
                <a:lnTo>
                  <a:pt x="10518098" y="0"/>
                </a:lnTo>
                <a:lnTo>
                  <a:pt x="10518098" y="2156593"/>
                </a:lnTo>
                <a:lnTo>
                  <a:pt x="0" y="2156593"/>
                </a:lnTo>
                <a:lnTo>
                  <a:pt x="0" y="0"/>
                </a:lnTo>
                <a:close/>
              </a:path>
            </a:pathLst>
          </a:custGeom>
          <a:blipFill>
            <a:blip r:embed="rId6">
              <a:extLst>
                <a:ext uri="{96DAC541-7B7A-43D3-8B79-37D633B846F1}">
                  <asvg:svgBlip xmlns:asvg="http://schemas.microsoft.com/office/drawing/2016/SVG/main" r:embed="rId7"/>
                </a:ext>
              </a:extLst>
            </a:blip>
            <a:stretch>
              <a:fillRect l="0" t="0" r="0" b="-172235"/>
            </a:stretch>
          </a:blipFill>
        </p:spPr>
      </p:sp>
      <p:sp>
        <p:nvSpPr>
          <p:cNvPr name="Freeform 5" id="5"/>
          <p:cNvSpPr/>
          <p:nvPr/>
        </p:nvSpPr>
        <p:spPr>
          <a:xfrm flipH="false" flipV="false" rot="0">
            <a:off x="1028700" y="3627674"/>
            <a:ext cx="10518098" cy="1148632"/>
          </a:xfrm>
          <a:custGeom>
            <a:avLst/>
            <a:gdLst/>
            <a:ahLst/>
            <a:cxnLst/>
            <a:rect r="r" b="b" t="t" l="l"/>
            <a:pathLst>
              <a:path h="1148632" w="10518098">
                <a:moveTo>
                  <a:pt x="0" y="0"/>
                </a:moveTo>
                <a:lnTo>
                  <a:pt x="10518098" y="0"/>
                </a:lnTo>
                <a:lnTo>
                  <a:pt x="10518098" y="1148631"/>
                </a:lnTo>
                <a:lnTo>
                  <a:pt x="0" y="1148631"/>
                </a:lnTo>
                <a:lnTo>
                  <a:pt x="0" y="0"/>
                </a:lnTo>
                <a:close/>
              </a:path>
            </a:pathLst>
          </a:custGeom>
          <a:blipFill>
            <a:blip r:embed="rId6">
              <a:extLst>
                <a:ext uri="{96DAC541-7B7A-43D3-8B79-37D633B846F1}">
                  <asvg:svgBlip xmlns:asvg="http://schemas.microsoft.com/office/drawing/2016/SVG/main" r:embed="rId7"/>
                </a:ext>
              </a:extLst>
            </a:blip>
            <a:stretch>
              <a:fillRect l="0" t="0" r="0" b="-411130"/>
            </a:stretch>
          </a:blipFill>
        </p:spPr>
      </p:sp>
      <p:sp>
        <p:nvSpPr>
          <p:cNvPr name="Freeform 6" id="6"/>
          <p:cNvSpPr/>
          <p:nvPr/>
        </p:nvSpPr>
        <p:spPr>
          <a:xfrm flipH="false" flipV="false" rot="0">
            <a:off x="12857838" y="7146953"/>
            <a:ext cx="6637008" cy="6514411"/>
          </a:xfrm>
          <a:custGeom>
            <a:avLst/>
            <a:gdLst/>
            <a:ahLst/>
            <a:cxnLst/>
            <a:rect r="r" b="b" t="t" l="l"/>
            <a:pathLst>
              <a:path h="6514411" w="6637008">
                <a:moveTo>
                  <a:pt x="0" y="0"/>
                </a:moveTo>
                <a:lnTo>
                  <a:pt x="6637009" y="0"/>
                </a:lnTo>
                <a:lnTo>
                  <a:pt x="6637009" y="6514410"/>
                </a:lnTo>
                <a:lnTo>
                  <a:pt x="0" y="6514410"/>
                </a:lnTo>
                <a:lnTo>
                  <a:pt x="0" y="0"/>
                </a:lnTo>
                <a:close/>
              </a:path>
            </a:pathLst>
          </a:custGeom>
          <a:blipFill>
            <a:blip r:embed="rId8">
              <a:extLst>
                <a:ext uri="{96DAC541-7B7A-43D3-8B79-37D633B846F1}">
                  <asvg:svgBlip xmlns:asvg="http://schemas.microsoft.com/office/drawing/2016/SVG/main" r:embed="rId9"/>
                </a:ext>
              </a:extLst>
            </a:blip>
            <a:stretch>
              <a:fillRect l="0" t="0" r="-75843" b="0"/>
            </a:stretch>
          </a:blipFill>
        </p:spPr>
      </p:sp>
      <p:sp>
        <p:nvSpPr>
          <p:cNvPr name="Freeform 7" id="7"/>
          <p:cNvSpPr/>
          <p:nvPr/>
        </p:nvSpPr>
        <p:spPr>
          <a:xfrm flipH="false" flipV="false" rot="0">
            <a:off x="12074111" y="508130"/>
            <a:ext cx="3804939" cy="8111305"/>
          </a:xfrm>
          <a:custGeom>
            <a:avLst/>
            <a:gdLst/>
            <a:ahLst/>
            <a:cxnLst/>
            <a:rect r="r" b="b" t="t" l="l"/>
            <a:pathLst>
              <a:path h="8111305" w="3804939">
                <a:moveTo>
                  <a:pt x="0" y="0"/>
                </a:moveTo>
                <a:lnTo>
                  <a:pt x="3804939" y="0"/>
                </a:lnTo>
                <a:lnTo>
                  <a:pt x="3804939" y="8111305"/>
                </a:lnTo>
                <a:lnTo>
                  <a:pt x="0" y="81113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1434849" y="1150399"/>
            <a:ext cx="9705800" cy="2204780"/>
          </a:xfrm>
          <a:prstGeom prst="rect">
            <a:avLst/>
          </a:prstGeom>
        </p:spPr>
        <p:txBody>
          <a:bodyPr anchor="t" rtlCol="false" tIns="0" lIns="0" bIns="0" rIns="0">
            <a:spAutoFit/>
          </a:bodyPr>
          <a:lstStyle/>
          <a:p>
            <a:pPr algn="ctr">
              <a:lnSpc>
                <a:spcPts val="17118"/>
              </a:lnSpc>
            </a:pPr>
            <a:r>
              <a:rPr lang="en-US" sz="14885">
                <a:solidFill>
                  <a:srgbClr val="FFFFFF"/>
                </a:solidFill>
                <a:latin typeface="Cabin Sketch"/>
                <a:ea typeface="Cabin Sketch"/>
                <a:cs typeface="Cabin Sketch"/>
                <a:sym typeface="Cabin Sketch"/>
              </a:rPr>
              <a:t>EVIDENCIA</a:t>
            </a:r>
          </a:p>
        </p:txBody>
      </p:sp>
      <p:sp>
        <p:nvSpPr>
          <p:cNvPr name="TextBox 9" id="9"/>
          <p:cNvSpPr txBox="true"/>
          <p:nvPr/>
        </p:nvSpPr>
        <p:spPr>
          <a:xfrm rot="0">
            <a:off x="1028700" y="3551474"/>
            <a:ext cx="10518098" cy="1609725"/>
          </a:xfrm>
          <a:prstGeom prst="rect">
            <a:avLst/>
          </a:prstGeom>
        </p:spPr>
        <p:txBody>
          <a:bodyPr anchor="t" rtlCol="false" tIns="0" lIns="0" bIns="0" rIns="0">
            <a:spAutoFit/>
          </a:bodyPr>
          <a:lstStyle/>
          <a:p>
            <a:pPr algn="ctr">
              <a:lnSpc>
                <a:spcPts val="4349"/>
              </a:lnSpc>
            </a:pPr>
            <a:r>
              <a:rPr lang="en-US" sz="2999">
                <a:solidFill>
                  <a:srgbClr val="FFFFFF"/>
                </a:solidFill>
                <a:latin typeface="Glacial Indifference"/>
                <a:ea typeface="Glacial Indifference"/>
                <a:cs typeface="Glacial Indifference"/>
                <a:sym typeface="Glacial Indifference"/>
              </a:rPr>
              <a:t>Ejecuta el script de creación completo de tu PIA, creación de base, objetos y que incluya inserción de datos</a:t>
            </a:r>
          </a:p>
          <a:p>
            <a:pPr algn="ctr">
              <a:lnSpc>
                <a:spcPts val="434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397912" y="302289"/>
            <a:ext cx="17283854" cy="9647533"/>
          </a:xfrm>
          <a:custGeom>
            <a:avLst/>
            <a:gdLst/>
            <a:ahLst/>
            <a:cxnLst/>
            <a:rect r="r" b="b" t="t" l="l"/>
            <a:pathLst>
              <a:path h="9647533" w="17283854">
                <a:moveTo>
                  <a:pt x="0" y="0"/>
                </a:moveTo>
                <a:lnTo>
                  <a:pt x="17283854" y="0"/>
                </a:lnTo>
                <a:lnTo>
                  <a:pt x="17283854" y="9647533"/>
                </a:lnTo>
                <a:lnTo>
                  <a:pt x="0" y="9647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69161" y="1216689"/>
            <a:ext cx="12686741" cy="3377845"/>
          </a:xfrm>
          <a:custGeom>
            <a:avLst/>
            <a:gdLst/>
            <a:ahLst/>
            <a:cxnLst/>
            <a:rect r="r" b="b" t="t" l="l"/>
            <a:pathLst>
              <a:path h="3377845" w="12686741">
                <a:moveTo>
                  <a:pt x="0" y="0"/>
                </a:moveTo>
                <a:lnTo>
                  <a:pt x="12686741" y="0"/>
                </a:lnTo>
                <a:lnTo>
                  <a:pt x="12686741" y="3377845"/>
                </a:lnTo>
                <a:lnTo>
                  <a:pt x="0" y="3377845"/>
                </a:lnTo>
                <a:lnTo>
                  <a:pt x="0" y="0"/>
                </a:lnTo>
                <a:close/>
              </a:path>
            </a:pathLst>
          </a:custGeom>
          <a:blipFill>
            <a:blip r:embed="rId4"/>
            <a:stretch>
              <a:fillRect l="0" t="0" r="0" b="0"/>
            </a:stretch>
          </a:blipFill>
        </p:spPr>
      </p:sp>
      <p:sp>
        <p:nvSpPr>
          <p:cNvPr name="Freeform 4" id="4"/>
          <p:cNvSpPr/>
          <p:nvPr/>
        </p:nvSpPr>
        <p:spPr>
          <a:xfrm flipH="true" flipV="false" rot="0">
            <a:off x="9525" y="0"/>
            <a:ext cx="2992386" cy="1980415"/>
          </a:xfrm>
          <a:custGeom>
            <a:avLst/>
            <a:gdLst/>
            <a:ahLst/>
            <a:cxnLst/>
            <a:rect r="r" b="b" t="t" l="l"/>
            <a:pathLst>
              <a:path h="1980415" w="2992386">
                <a:moveTo>
                  <a:pt x="2992386" y="0"/>
                </a:moveTo>
                <a:lnTo>
                  <a:pt x="0" y="0"/>
                </a:lnTo>
                <a:lnTo>
                  <a:pt x="0" y="1980415"/>
                </a:lnTo>
                <a:lnTo>
                  <a:pt x="2992386" y="1980415"/>
                </a:lnTo>
                <a:lnTo>
                  <a:pt x="299238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6095652" y="3965054"/>
            <a:ext cx="3507234" cy="3271293"/>
          </a:xfrm>
          <a:custGeom>
            <a:avLst/>
            <a:gdLst/>
            <a:ahLst/>
            <a:cxnLst/>
            <a:rect r="r" b="b" t="t" l="l"/>
            <a:pathLst>
              <a:path h="3271293" w="3507234">
                <a:moveTo>
                  <a:pt x="0" y="0"/>
                </a:moveTo>
                <a:lnTo>
                  <a:pt x="3507234" y="0"/>
                </a:lnTo>
                <a:lnTo>
                  <a:pt x="3507234" y="3271293"/>
                </a:lnTo>
                <a:lnTo>
                  <a:pt x="0" y="32712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4790645" y="6723313"/>
            <a:ext cx="3596382" cy="3563687"/>
          </a:xfrm>
          <a:custGeom>
            <a:avLst/>
            <a:gdLst/>
            <a:ahLst/>
            <a:cxnLst/>
            <a:rect r="r" b="b" t="t" l="l"/>
            <a:pathLst>
              <a:path h="3563687" w="3596382">
                <a:moveTo>
                  <a:pt x="0" y="0"/>
                </a:moveTo>
                <a:lnTo>
                  <a:pt x="3596382" y="0"/>
                </a:lnTo>
                <a:lnTo>
                  <a:pt x="3596382" y="3563687"/>
                </a:lnTo>
                <a:lnTo>
                  <a:pt x="0" y="356368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2869161" y="5600700"/>
            <a:ext cx="12686741" cy="2410481"/>
          </a:xfrm>
          <a:custGeom>
            <a:avLst/>
            <a:gdLst/>
            <a:ahLst/>
            <a:cxnLst/>
            <a:rect r="r" b="b" t="t" l="l"/>
            <a:pathLst>
              <a:path h="2410481" w="12686741">
                <a:moveTo>
                  <a:pt x="0" y="0"/>
                </a:moveTo>
                <a:lnTo>
                  <a:pt x="12686741" y="0"/>
                </a:lnTo>
                <a:lnTo>
                  <a:pt x="12686741" y="2410481"/>
                </a:lnTo>
                <a:lnTo>
                  <a:pt x="0" y="2410481"/>
                </a:lnTo>
                <a:lnTo>
                  <a:pt x="0" y="0"/>
                </a:lnTo>
                <a:close/>
              </a:path>
            </a:pathLst>
          </a:custGeom>
          <a:blipFill>
            <a:blip r:embed="rId11"/>
            <a:stretch>
              <a:fillRect l="0" t="0" r="0" b="0"/>
            </a:stretch>
          </a:blipFill>
        </p:spPr>
      </p:sp>
      <p:sp>
        <p:nvSpPr>
          <p:cNvPr name="TextBox 8" id="8"/>
          <p:cNvSpPr txBox="true"/>
          <p:nvPr/>
        </p:nvSpPr>
        <p:spPr>
          <a:xfrm rot="0">
            <a:off x="3863690" y="397539"/>
            <a:ext cx="10518098" cy="819151"/>
          </a:xfrm>
          <a:prstGeom prst="rect">
            <a:avLst/>
          </a:prstGeom>
        </p:spPr>
        <p:txBody>
          <a:bodyPr anchor="t" rtlCol="false" tIns="0" lIns="0" bIns="0" rIns="0">
            <a:spAutoFit/>
          </a:bodyPr>
          <a:lstStyle/>
          <a:p>
            <a:pPr algn="ctr">
              <a:lnSpc>
                <a:spcPts val="6000"/>
              </a:lnSpc>
            </a:pPr>
            <a:r>
              <a:rPr lang="en-US" b="true" sz="6000">
                <a:solidFill>
                  <a:srgbClr val="000000"/>
                </a:solidFill>
                <a:latin typeface="Cabin Sketch Bold"/>
                <a:ea typeface="Cabin Sketch Bold"/>
                <a:cs typeface="Cabin Sketch Bold"/>
                <a:sym typeface="Cabin Sketch Bold"/>
              </a:rPr>
              <a:t>CREACION DE BASE DE DATOS</a:t>
            </a:r>
          </a:p>
        </p:txBody>
      </p:sp>
      <p:sp>
        <p:nvSpPr>
          <p:cNvPr name="TextBox 9" id="9"/>
          <p:cNvSpPr txBox="true"/>
          <p:nvPr/>
        </p:nvSpPr>
        <p:spPr>
          <a:xfrm rot="0">
            <a:off x="3863690" y="4781550"/>
            <a:ext cx="10518098" cy="819151"/>
          </a:xfrm>
          <a:prstGeom prst="rect">
            <a:avLst/>
          </a:prstGeom>
        </p:spPr>
        <p:txBody>
          <a:bodyPr anchor="t" rtlCol="false" tIns="0" lIns="0" bIns="0" rIns="0">
            <a:spAutoFit/>
          </a:bodyPr>
          <a:lstStyle/>
          <a:p>
            <a:pPr algn="ctr">
              <a:lnSpc>
                <a:spcPts val="6000"/>
              </a:lnSpc>
            </a:pPr>
            <a:r>
              <a:rPr lang="en-US" b="true" sz="6000">
                <a:solidFill>
                  <a:srgbClr val="000000"/>
                </a:solidFill>
                <a:latin typeface="Cabin Sketch Bold"/>
                <a:ea typeface="Cabin Sketch Bold"/>
                <a:cs typeface="Cabin Sketch Bold"/>
                <a:sym typeface="Cabin Sketch Bold"/>
              </a:rPr>
              <a:t>CREACION DE TABLAS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397912" y="302289"/>
            <a:ext cx="17283854" cy="9647533"/>
          </a:xfrm>
          <a:custGeom>
            <a:avLst/>
            <a:gdLst/>
            <a:ahLst/>
            <a:cxnLst/>
            <a:rect r="r" b="b" t="t" l="l"/>
            <a:pathLst>
              <a:path h="9647533" w="17283854">
                <a:moveTo>
                  <a:pt x="0" y="0"/>
                </a:moveTo>
                <a:lnTo>
                  <a:pt x="17283854" y="0"/>
                </a:lnTo>
                <a:lnTo>
                  <a:pt x="17283854" y="9647533"/>
                </a:lnTo>
                <a:lnTo>
                  <a:pt x="0" y="9647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08450" y="1485900"/>
            <a:ext cx="4118993" cy="8037059"/>
          </a:xfrm>
          <a:custGeom>
            <a:avLst/>
            <a:gdLst/>
            <a:ahLst/>
            <a:cxnLst/>
            <a:rect r="r" b="b" t="t" l="l"/>
            <a:pathLst>
              <a:path h="8037059" w="4118993">
                <a:moveTo>
                  <a:pt x="0" y="0"/>
                </a:moveTo>
                <a:lnTo>
                  <a:pt x="4118993" y="0"/>
                </a:lnTo>
                <a:lnTo>
                  <a:pt x="4118993" y="8037059"/>
                </a:lnTo>
                <a:lnTo>
                  <a:pt x="0" y="8037059"/>
                </a:lnTo>
                <a:lnTo>
                  <a:pt x="0" y="0"/>
                </a:lnTo>
                <a:close/>
              </a:path>
            </a:pathLst>
          </a:custGeom>
          <a:blipFill>
            <a:blip r:embed="rId4"/>
            <a:stretch>
              <a:fillRect l="0" t="0" r="0" b="0"/>
            </a:stretch>
          </a:blipFill>
        </p:spPr>
      </p:sp>
      <p:sp>
        <p:nvSpPr>
          <p:cNvPr name="Freeform 4" id="4"/>
          <p:cNvSpPr/>
          <p:nvPr/>
        </p:nvSpPr>
        <p:spPr>
          <a:xfrm flipH="false" flipV="false" rot="0">
            <a:off x="8937625" y="1485900"/>
            <a:ext cx="6495879" cy="8037059"/>
          </a:xfrm>
          <a:custGeom>
            <a:avLst/>
            <a:gdLst/>
            <a:ahLst/>
            <a:cxnLst/>
            <a:rect r="r" b="b" t="t" l="l"/>
            <a:pathLst>
              <a:path h="8037059" w="6495879">
                <a:moveTo>
                  <a:pt x="0" y="0"/>
                </a:moveTo>
                <a:lnTo>
                  <a:pt x="6495879" y="0"/>
                </a:lnTo>
                <a:lnTo>
                  <a:pt x="6495879" y="8037059"/>
                </a:lnTo>
                <a:lnTo>
                  <a:pt x="0" y="8037059"/>
                </a:lnTo>
                <a:lnTo>
                  <a:pt x="0" y="0"/>
                </a:lnTo>
                <a:close/>
              </a:path>
            </a:pathLst>
          </a:custGeom>
          <a:blipFill>
            <a:blip r:embed="rId5"/>
            <a:stretch>
              <a:fillRect l="0" t="0" r="0" b="0"/>
            </a:stretch>
          </a:blipFill>
        </p:spPr>
      </p:sp>
      <p:sp>
        <p:nvSpPr>
          <p:cNvPr name="TextBox 5" id="5"/>
          <p:cNvSpPr txBox="true"/>
          <p:nvPr/>
        </p:nvSpPr>
        <p:spPr>
          <a:xfrm rot="0">
            <a:off x="3884951" y="666750"/>
            <a:ext cx="10518098" cy="819151"/>
          </a:xfrm>
          <a:prstGeom prst="rect">
            <a:avLst/>
          </a:prstGeom>
        </p:spPr>
        <p:txBody>
          <a:bodyPr anchor="t" rtlCol="false" tIns="0" lIns="0" bIns="0" rIns="0">
            <a:spAutoFit/>
          </a:bodyPr>
          <a:lstStyle/>
          <a:p>
            <a:pPr algn="ctr">
              <a:lnSpc>
                <a:spcPts val="6000"/>
              </a:lnSpc>
            </a:pPr>
            <a:r>
              <a:rPr lang="en-US" b="true" sz="6000">
                <a:solidFill>
                  <a:srgbClr val="000000"/>
                </a:solidFill>
                <a:latin typeface="Cabin Sketch Bold"/>
                <a:ea typeface="Cabin Sketch Bold"/>
                <a:cs typeface="Cabin Sketch Bold"/>
                <a:sym typeface="Cabin Sketch Bold"/>
              </a:rPr>
              <a:t>CREACION DE TABLAS</a:t>
            </a:r>
          </a:p>
        </p:txBody>
      </p:sp>
      <p:sp>
        <p:nvSpPr>
          <p:cNvPr name="Freeform 6" id="6"/>
          <p:cNvSpPr/>
          <p:nvPr/>
        </p:nvSpPr>
        <p:spPr>
          <a:xfrm flipH="true" flipV="false" rot="0">
            <a:off x="0" y="0"/>
            <a:ext cx="3884951" cy="2571131"/>
          </a:xfrm>
          <a:custGeom>
            <a:avLst/>
            <a:gdLst/>
            <a:ahLst/>
            <a:cxnLst/>
            <a:rect r="r" b="b" t="t" l="l"/>
            <a:pathLst>
              <a:path h="2571131" w="3884951">
                <a:moveTo>
                  <a:pt x="3884951" y="0"/>
                </a:moveTo>
                <a:lnTo>
                  <a:pt x="0" y="0"/>
                </a:lnTo>
                <a:lnTo>
                  <a:pt x="0" y="2571131"/>
                </a:lnTo>
                <a:lnTo>
                  <a:pt x="3884951" y="2571131"/>
                </a:lnTo>
                <a:lnTo>
                  <a:pt x="388495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6723313"/>
            <a:ext cx="3596382" cy="3563687"/>
          </a:xfrm>
          <a:custGeom>
            <a:avLst/>
            <a:gdLst/>
            <a:ahLst/>
            <a:cxnLst/>
            <a:rect r="r" b="b" t="t" l="l"/>
            <a:pathLst>
              <a:path h="3563687" w="3596382">
                <a:moveTo>
                  <a:pt x="0" y="0"/>
                </a:moveTo>
                <a:lnTo>
                  <a:pt x="3596382" y="0"/>
                </a:lnTo>
                <a:lnTo>
                  <a:pt x="3596382" y="3563687"/>
                </a:lnTo>
                <a:lnTo>
                  <a:pt x="0" y="3563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5079652" y="7015707"/>
            <a:ext cx="3507234" cy="3271293"/>
          </a:xfrm>
          <a:custGeom>
            <a:avLst/>
            <a:gdLst/>
            <a:ahLst/>
            <a:cxnLst/>
            <a:rect r="r" b="b" t="t" l="l"/>
            <a:pathLst>
              <a:path h="3271293" w="3507234">
                <a:moveTo>
                  <a:pt x="0" y="0"/>
                </a:moveTo>
                <a:lnTo>
                  <a:pt x="3507234" y="0"/>
                </a:lnTo>
                <a:lnTo>
                  <a:pt x="3507234" y="3271293"/>
                </a:lnTo>
                <a:lnTo>
                  <a:pt x="0" y="32712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397912" y="302289"/>
            <a:ext cx="17283854" cy="9647533"/>
          </a:xfrm>
          <a:custGeom>
            <a:avLst/>
            <a:gdLst/>
            <a:ahLst/>
            <a:cxnLst/>
            <a:rect r="r" b="b" t="t" l="l"/>
            <a:pathLst>
              <a:path h="9647533" w="17283854">
                <a:moveTo>
                  <a:pt x="0" y="0"/>
                </a:moveTo>
                <a:lnTo>
                  <a:pt x="17283854" y="0"/>
                </a:lnTo>
                <a:lnTo>
                  <a:pt x="17283854" y="9647533"/>
                </a:lnTo>
                <a:lnTo>
                  <a:pt x="0" y="9647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25" y="0"/>
            <a:ext cx="2992386" cy="1980415"/>
          </a:xfrm>
          <a:custGeom>
            <a:avLst/>
            <a:gdLst/>
            <a:ahLst/>
            <a:cxnLst/>
            <a:rect r="r" b="b" t="t" l="l"/>
            <a:pathLst>
              <a:path h="1980415" w="2992386">
                <a:moveTo>
                  <a:pt x="2992386" y="0"/>
                </a:moveTo>
                <a:lnTo>
                  <a:pt x="0" y="0"/>
                </a:lnTo>
                <a:lnTo>
                  <a:pt x="0" y="1980415"/>
                </a:lnTo>
                <a:lnTo>
                  <a:pt x="2992386" y="1980415"/>
                </a:lnTo>
                <a:lnTo>
                  <a:pt x="299238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95652" y="3965054"/>
            <a:ext cx="3507234" cy="3271293"/>
          </a:xfrm>
          <a:custGeom>
            <a:avLst/>
            <a:gdLst/>
            <a:ahLst/>
            <a:cxnLst/>
            <a:rect r="r" b="b" t="t" l="l"/>
            <a:pathLst>
              <a:path h="3271293" w="3507234">
                <a:moveTo>
                  <a:pt x="0" y="0"/>
                </a:moveTo>
                <a:lnTo>
                  <a:pt x="3507234" y="0"/>
                </a:lnTo>
                <a:lnTo>
                  <a:pt x="3507234" y="3271293"/>
                </a:lnTo>
                <a:lnTo>
                  <a:pt x="0" y="32712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790645" y="6723313"/>
            <a:ext cx="3596382" cy="3563687"/>
          </a:xfrm>
          <a:custGeom>
            <a:avLst/>
            <a:gdLst/>
            <a:ahLst/>
            <a:cxnLst/>
            <a:rect r="r" b="b" t="t" l="l"/>
            <a:pathLst>
              <a:path h="3563687" w="3596382">
                <a:moveTo>
                  <a:pt x="0" y="0"/>
                </a:moveTo>
                <a:lnTo>
                  <a:pt x="3596382" y="0"/>
                </a:lnTo>
                <a:lnTo>
                  <a:pt x="3596382" y="3563687"/>
                </a:lnTo>
                <a:lnTo>
                  <a:pt x="0" y="3563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2584137" y="1216689"/>
            <a:ext cx="13511515" cy="7921126"/>
          </a:xfrm>
          <a:custGeom>
            <a:avLst/>
            <a:gdLst/>
            <a:ahLst/>
            <a:cxnLst/>
            <a:rect r="r" b="b" t="t" l="l"/>
            <a:pathLst>
              <a:path h="7921126" w="13511515">
                <a:moveTo>
                  <a:pt x="0" y="0"/>
                </a:moveTo>
                <a:lnTo>
                  <a:pt x="13511515" y="0"/>
                </a:lnTo>
                <a:lnTo>
                  <a:pt x="13511515" y="7921126"/>
                </a:lnTo>
                <a:lnTo>
                  <a:pt x="0" y="7921126"/>
                </a:lnTo>
                <a:lnTo>
                  <a:pt x="0" y="0"/>
                </a:lnTo>
                <a:close/>
              </a:path>
            </a:pathLst>
          </a:custGeom>
          <a:blipFill>
            <a:blip r:embed="rId10"/>
            <a:stretch>
              <a:fillRect l="0" t="0" r="0" b="0"/>
            </a:stretch>
          </a:blipFill>
        </p:spPr>
      </p:sp>
      <p:sp>
        <p:nvSpPr>
          <p:cNvPr name="TextBox 7" id="7"/>
          <p:cNvSpPr txBox="true"/>
          <p:nvPr/>
        </p:nvSpPr>
        <p:spPr>
          <a:xfrm rot="0">
            <a:off x="3863690" y="397539"/>
            <a:ext cx="10518098" cy="819151"/>
          </a:xfrm>
          <a:prstGeom prst="rect">
            <a:avLst/>
          </a:prstGeom>
        </p:spPr>
        <p:txBody>
          <a:bodyPr anchor="t" rtlCol="false" tIns="0" lIns="0" bIns="0" rIns="0">
            <a:spAutoFit/>
          </a:bodyPr>
          <a:lstStyle/>
          <a:p>
            <a:pPr algn="ctr">
              <a:lnSpc>
                <a:spcPts val="6000"/>
              </a:lnSpc>
            </a:pPr>
            <a:r>
              <a:rPr lang="en-US" b="true" sz="6000">
                <a:solidFill>
                  <a:srgbClr val="000000"/>
                </a:solidFill>
                <a:latin typeface="Cabin Sketch Bold"/>
                <a:ea typeface="Cabin Sketch Bold"/>
                <a:cs typeface="Cabin Sketch Bold"/>
                <a:sym typeface="Cabin Sketch Bold"/>
              </a:rPr>
              <a:t>INSERCIÓN DE DATOS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397912" y="302289"/>
            <a:ext cx="17283854" cy="9647533"/>
          </a:xfrm>
          <a:custGeom>
            <a:avLst/>
            <a:gdLst/>
            <a:ahLst/>
            <a:cxnLst/>
            <a:rect r="r" b="b" t="t" l="l"/>
            <a:pathLst>
              <a:path h="9647533" w="17283854">
                <a:moveTo>
                  <a:pt x="0" y="0"/>
                </a:moveTo>
                <a:lnTo>
                  <a:pt x="17283854" y="0"/>
                </a:lnTo>
                <a:lnTo>
                  <a:pt x="17283854" y="9647533"/>
                </a:lnTo>
                <a:lnTo>
                  <a:pt x="0" y="9647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25" y="0"/>
            <a:ext cx="2992386" cy="1980415"/>
          </a:xfrm>
          <a:custGeom>
            <a:avLst/>
            <a:gdLst/>
            <a:ahLst/>
            <a:cxnLst/>
            <a:rect r="r" b="b" t="t" l="l"/>
            <a:pathLst>
              <a:path h="1980415" w="2992386">
                <a:moveTo>
                  <a:pt x="2992386" y="0"/>
                </a:moveTo>
                <a:lnTo>
                  <a:pt x="0" y="0"/>
                </a:lnTo>
                <a:lnTo>
                  <a:pt x="0" y="1980415"/>
                </a:lnTo>
                <a:lnTo>
                  <a:pt x="2992386" y="1980415"/>
                </a:lnTo>
                <a:lnTo>
                  <a:pt x="299238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95652" y="3965054"/>
            <a:ext cx="3507234" cy="3271293"/>
          </a:xfrm>
          <a:custGeom>
            <a:avLst/>
            <a:gdLst/>
            <a:ahLst/>
            <a:cxnLst/>
            <a:rect r="r" b="b" t="t" l="l"/>
            <a:pathLst>
              <a:path h="3271293" w="3507234">
                <a:moveTo>
                  <a:pt x="0" y="0"/>
                </a:moveTo>
                <a:lnTo>
                  <a:pt x="3507234" y="0"/>
                </a:lnTo>
                <a:lnTo>
                  <a:pt x="3507234" y="3271293"/>
                </a:lnTo>
                <a:lnTo>
                  <a:pt x="0" y="32712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790645" y="6723313"/>
            <a:ext cx="3596382" cy="3563687"/>
          </a:xfrm>
          <a:custGeom>
            <a:avLst/>
            <a:gdLst/>
            <a:ahLst/>
            <a:cxnLst/>
            <a:rect r="r" b="b" t="t" l="l"/>
            <a:pathLst>
              <a:path h="3563687" w="3596382">
                <a:moveTo>
                  <a:pt x="0" y="0"/>
                </a:moveTo>
                <a:lnTo>
                  <a:pt x="3596382" y="0"/>
                </a:lnTo>
                <a:lnTo>
                  <a:pt x="3596382" y="3563687"/>
                </a:lnTo>
                <a:lnTo>
                  <a:pt x="0" y="3563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89263" y="1764242"/>
            <a:ext cx="15066952" cy="6723627"/>
          </a:xfrm>
          <a:custGeom>
            <a:avLst/>
            <a:gdLst/>
            <a:ahLst/>
            <a:cxnLst/>
            <a:rect r="r" b="b" t="t" l="l"/>
            <a:pathLst>
              <a:path h="6723627" w="15066952">
                <a:moveTo>
                  <a:pt x="0" y="0"/>
                </a:moveTo>
                <a:lnTo>
                  <a:pt x="15066952" y="0"/>
                </a:lnTo>
                <a:lnTo>
                  <a:pt x="15066952" y="6723627"/>
                </a:lnTo>
                <a:lnTo>
                  <a:pt x="0" y="6723627"/>
                </a:lnTo>
                <a:lnTo>
                  <a:pt x="0" y="0"/>
                </a:lnTo>
                <a:close/>
              </a:path>
            </a:pathLst>
          </a:custGeom>
          <a:blipFill>
            <a:blip r:embed="rId10"/>
            <a:stretch>
              <a:fillRect l="0" t="0" r="0" b="0"/>
            </a:stretch>
          </a:blipFill>
        </p:spPr>
      </p:sp>
      <p:sp>
        <p:nvSpPr>
          <p:cNvPr name="TextBox 7" id="7"/>
          <p:cNvSpPr txBox="true"/>
          <p:nvPr/>
        </p:nvSpPr>
        <p:spPr>
          <a:xfrm rot="0">
            <a:off x="3863690" y="397539"/>
            <a:ext cx="10518098" cy="819151"/>
          </a:xfrm>
          <a:prstGeom prst="rect">
            <a:avLst/>
          </a:prstGeom>
        </p:spPr>
        <p:txBody>
          <a:bodyPr anchor="t" rtlCol="false" tIns="0" lIns="0" bIns="0" rIns="0">
            <a:spAutoFit/>
          </a:bodyPr>
          <a:lstStyle/>
          <a:p>
            <a:pPr algn="ctr">
              <a:lnSpc>
                <a:spcPts val="6000"/>
              </a:lnSpc>
            </a:pPr>
            <a:r>
              <a:rPr lang="en-US" b="true" sz="6000">
                <a:solidFill>
                  <a:srgbClr val="000000"/>
                </a:solidFill>
                <a:latin typeface="Cabin Sketch Bold"/>
                <a:ea typeface="Cabin Sketch Bold"/>
                <a:cs typeface="Cabin Sketch Bold"/>
                <a:sym typeface="Cabin Sketch Bold"/>
              </a:rPr>
              <a:t>INSERCIÓN DE DATOS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397912" y="302289"/>
            <a:ext cx="17283854" cy="9647533"/>
          </a:xfrm>
          <a:custGeom>
            <a:avLst/>
            <a:gdLst/>
            <a:ahLst/>
            <a:cxnLst/>
            <a:rect r="r" b="b" t="t" l="l"/>
            <a:pathLst>
              <a:path h="9647533" w="17283854">
                <a:moveTo>
                  <a:pt x="0" y="0"/>
                </a:moveTo>
                <a:lnTo>
                  <a:pt x="17283854" y="0"/>
                </a:lnTo>
                <a:lnTo>
                  <a:pt x="17283854" y="9647533"/>
                </a:lnTo>
                <a:lnTo>
                  <a:pt x="0" y="9647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25" y="0"/>
            <a:ext cx="2992386" cy="1980415"/>
          </a:xfrm>
          <a:custGeom>
            <a:avLst/>
            <a:gdLst/>
            <a:ahLst/>
            <a:cxnLst/>
            <a:rect r="r" b="b" t="t" l="l"/>
            <a:pathLst>
              <a:path h="1980415" w="2992386">
                <a:moveTo>
                  <a:pt x="2992386" y="0"/>
                </a:moveTo>
                <a:lnTo>
                  <a:pt x="0" y="0"/>
                </a:lnTo>
                <a:lnTo>
                  <a:pt x="0" y="1980415"/>
                </a:lnTo>
                <a:lnTo>
                  <a:pt x="2992386" y="1980415"/>
                </a:lnTo>
                <a:lnTo>
                  <a:pt x="299238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95652" y="3965054"/>
            <a:ext cx="3507234" cy="3271293"/>
          </a:xfrm>
          <a:custGeom>
            <a:avLst/>
            <a:gdLst/>
            <a:ahLst/>
            <a:cxnLst/>
            <a:rect r="r" b="b" t="t" l="l"/>
            <a:pathLst>
              <a:path h="3271293" w="3507234">
                <a:moveTo>
                  <a:pt x="0" y="0"/>
                </a:moveTo>
                <a:lnTo>
                  <a:pt x="3507234" y="0"/>
                </a:lnTo>
                <a:lnTo>
                  <a:pt x="3507234" y="3271293"/>
                </a:lnTo>
                <a:lnTo>
                  <a:pt x="0" y="32712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790645" y="6723313"/>
            <a:ext cx="3596382" cy="3563687"/>
          </a:xfrm>
          <a:custGeom>
            <a:avLst/>
            <a:gdLst/>
            <a:ahLst/>
            <a:cxnLst/>
            <a:rect r="r" b="b" t="t" l="l"/>
            <a:pathLst>
              <a:path h="3563687" w="3596382">
                <a:moveTo>
                  <a:pt x="0" y="0"/>
                </a:moveTo>
                <a:lnTo>
                  <a:pt x="3596382" y="0"/>
                </a:lnTo>
                <a:lnTo>
                  <a:pt x="3596382" y="3563687"/>
                </a:lnTo>
                <a:lnTo>
                  <a:pt x="0" y="3563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05718" y="1359692"/>
            <a:ext cx="15083118" cy="7843221"/>
          </a:xfrm>
          <a:custGeom>
            <a:avLst/>
            <a:gdLst/>
            <a:ahLst/>
            <a:cxnLst/>
            <a:rect r="r" b="b" t="t" l="l"/>
            <a:pathLst>
              <a:path h="7843221" w="15083118">
                <a:moveTo>
                  <a:pt x="0" y="0"/>
                </a:moveTo>
                <a:lnTo>
                  <a:pt x="15083118" y="0"/>
                </a:lnTo>
                <a:lnTo>
                  <a:pt x="15083118" y="7843221"/>
                </a:lnTo>
                <a:lnTo>
                  <a:pt x="0" y="7843221"/>
                </a:lnTo>
                <a:lnTo>
                  <a:pt x="0" y="0"/>
                </a:lnTo>
                <a:close/>
              </a:path>
            </a:pathLst>
          </a:custGeom>
          <a:blipFill>
            <a:blip r:embed="rId10"/>
            <a:stretch>
              <a:fillRect l="0" t="0" r="0" b="0"/>
            </a:stretch>
          </a:blipFill>
        </p:spPr>
      </p:sp>
      <p:sp>
        <p:nvSpPr>
          <p:cNvPr name="TextBox 7" id="7"/>
          <p:cNvSpPr txBox="true"/>
          <p:nvPr/>
        </p:nvSpPr>
        <p:spPr>
          <a:xfrm rot="0">
            <a:off x="3863690" y="397539"/>
            <a:ext cx="10518098" cy="819151"/>
          </a:xfrm>
          <a:prstGeom prst="rect">
            <a:avLst/>
          </a:prstGeom>
        </p:spPr>
        <p:txBody>
          <a:bodyPr anchor="t" rtlCol="false" tIns="0" lIns="0" bIns="0" rIns="0">
            <a:spAutoFit/>
          </a:bodyPr>
          <a:lstStyle/>
          <a:p>
            <a:pPr algn="ctr">
              <a:lnSpc>
                <a:spcPts val="6000"/>
              </a:lnSpc>
            </a:pPr>
            <a:r>
              <a:rPr lang="en-US" b="true" sz="6000">
                <a:solidFill>
                  <a:srgbClr val="000000"/>
                </a:solidFill>
                <a:latin typeface="Cabin Sketch Bold"/>
                <a:ea typeface="Cabin Sketch Bold"/>
                <a:cs typeface="Cabin Sketch Bold"/>
                <a:sym typeface="Cabin Sketch Bold"/>
              </a:rPr>
              <a:t>INSERCIÓN DE DATOS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397912" y="302289"/>
            <a:ext cx="17283854" cy="9647533"/>
          </a:xfrm>
          <a:custGeom>
            <a:avLst/>
            <a:gdLst/>
            <a:ahLst/>
            <a:cxnLst/>
            <a:rect r="r" b="b" t="t" l="l"/>
            <a:pathLst>
              <a:path h="9647533" w="17283854">
                <a:moveTo>
                  <a:pt x="0" y="0"/>
                </a:moveTo>
                <a:lnTo>
                  <a:pt x="17283854" y="0"/>
                </a:lnTo>
                <a:lnTo>
                  <a:pt x="17283854" y="9647533"/>
                </a:lnTo>
                <a:lnTo>
                  <a:pt x="0" y="9647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25" y="0"/>
            <a:ext cx="2992386" cy="1980415"/>
          </a:xfrm>
          <a:custGeom>
            <a:avLst/>
            <a:gdLst/>
            <a:ahLst/>
            <a:cxnLst/>
            <a:rect r="r" b="b" t="t" l="l"/>
            <a:pathLst>
              <a:path h="1980415" w="2992386">
                <a:moveTo>
                  <a:pt x="2992386" y="0"/>
                </a:moveTo>
                <a:lnTo>
                  <a:pt x="0" y="0"/>
                </a:lnTo>
                <a:lnTo>
                  <a:pt x="0" y="1980415"/>
                </a:lnTo>
                <a:lnTo>
                  <a:pt x="2992386" y="1980415"/>
                </a:lnTo>
                <a:lnTo>
                  <a:pt x="299238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95652" y="3965054"/>
            <a:ext cx="3507234" cy="3271293"/>
          </a:xfrm>
          <a:custGeom>
            <a:avLst/>
            <a:gdLst/>
            <a:ahLst/>
            <a:cxnLst/>
            <a:rect r="r" b="b" t="t" l="l"/>
            <a:pathLst>
              <a:path h="3271293" w="3507234">
                <a:moveTo>
                  <a:pt x="0" y="0"/>
                </a:moveTo>
                <a:lnTo>
                  <a:pt x="3507234" y="0"/>
                </a:lnTo>
                <a:lnTo>
                  <a:pt x="3507234" y="3271293"/>
                </a:lnTo>
                <a:lnTo>
                  <a:pt x="0" y="32712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790645" y="6723313"/>
            <a:ext cx="3596382" cy="3563687"/>
          </a:xfrm>
          <a:custGeom>
            <a:avLst/>
            <a:gdLst/>
            <a:ahLst/>
            <a:cxnLst/>
            <a:rect r="r" b="b" t="t" l="l"/>
            <a:pathLst>
              <a:path h="3563687" w="3596382">
                <a:moveTo>
                  <a:pt x="0" y="0"/>
                </a:moveTo>
                <a:lnTo>
                  <a:pt x="3596382" y="0"/>
                </a:lnTo>
                <a:lnTo>
                  <a:pt x="3596382" y="3563687"/>
                </a:lnTo>
                <a:lnTo>
                  <a:pt x="0" y="3563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2016598" y="1216689"/>
            <a:ext cx="14046482" cy="8041611"/>
          </a:xfrm>
          <a:custGeom>
            <a:avLst/>
            <a:gdLst/>
            <a:ahLst/>
            <a:cxnLst/>
            <a:rect r="r" b="b" t="t" l="l"/>
            <a:pathLst>
              <a:path h="8041611" w="14046482">
                <a:moveTo>
                  <a:pt x="0" y="0"/>
                </a:moveTo>
                <a:lnTo>
                  <a:pt x="14046482" y="0"/>
                </a:lnTo>
                <a:lnTo>
                  <a:pt x="14046482" y="8041611"/>
                </a:lnTo>
                <a:lnTo>
                  <a:pt x="0" y="8041611"/>
                </a:lnTo>
                <a:lnTo>
                  <a:pt x="0" y="0"/>
                </a:lnTo>
                <a:close/>
              </a:path>
            </a:pathLst>
          </a:custGeom>
          <a:blipFill>
            <a:blip r:embed="rId10"/>
            <a:stretch>
              <a:fillRect l="0" t="0" r="0" b="0"/>
            </a:stretch>
          </a:blipFill>
        </p:spPr>
      </p:sp>
      <p:sp>
        <p:nvSpPr>
          <p:cNvPr name="TextBox 7" id="7"/>
          <p:cNvSpPr txBox="true"/>
          <p:nvPr/>
        </p:nvSpPr>
        <p:spPr>
          <a:xfrm rot="0">
            <a:off x="3863690" y="397539"/>
            <a:ext cx="10518098" cy="819151"/>
          </a:xfrm>
          <a:prstGeom prst="rect">
            <a:avLst/>
          </a:prstGeom>
        </p:spPr>
        <p:txBody>
          <a:bodyPr anchor="t" rtlCol="false" tIns="0" lIns="0" bIns="0" rIns="0">
            <a:spAutoFit/>
          </a:bodyPr>
          <a:lstStyle/>
          <a:p>
            <a:pPr algn="ctr">
              <a:lnSpc>
                <a:spcPts val="6000"/>
              </a:lnSpc>
            </a:pPr>
            <a:r>
              <a:rPr lang="en-US" b="true" sz="6000">
                <a:solidFill>
                  <a:srgbClr val="000000"/>
                </a:solidFill>
                <a:latin typeface="Cabin Sketch Bold"/>
                <a:ea typeface="Cabin Sketch Bold"/>
                <a:cs typeface="Cabin Sketch Bold"/>
                <a:sym typeface="Cabin Sketch Bold"/>
              </a:rPr>
              <a:t>INSERCIÓN DE DATOS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397912" y="302289"/>
            <a:ext cx="17283854" cy="9647533"/>
          </a:xfrm>
          <a:custGeom>
            <a:avLst/>
            <a:gdLst/>
            <a:ahLst/>
            <a:cxnLst/>
            <a:rect r="r" b="b" t="t" l="l"/>
            <a:pathLst>
              <a:path h="9647533" w="17283854">
                <a:moveTo>
                  <a:pt x="0" y="0"/>
                </a:moveTo>
                <a:lnTo>
                  <a:pt x="17283854" y="0"/>
                </a:lnTo>
                <a:lnTo>
                  <a:pt x="17283854" y="9647533"/>
                </a:lnTo>
                <a:lnTo>
                  <a:pt x="0" y="9647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25" y="0"/>
            <a:ext cx="2992386" cy="1980415"/>
          </a:xfrm>
          <a:custGeom>
            <a:avLst/>
            <a:gdLst/>
            <a:ahLst/>
            <a:cxnLst/>
            <a:rect r="r" b="b" t="t" l="l"/>
            <a:pathLst>
              <a:path h="1980415" w="2992386">
                <a:moveTo>
                  <a:pt x="2992386" y="0"/>
                </a:moveTo>
                <a:lnTo>
                  <a:pt x="0" y="0"/>
                </a:lnTo>
                <a:lnTo>
                  <a:pt x="0" y="1980415"/>
                </a:lnTo>
                <a:lnTo>
                  <a:pt x="2992386" y="1980415"/>
                </a:lnTo>
                <a:lnTo>
                  <a:pt x="299238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95652" y="3965054"/>
            <a:ext cx="3507234" cy="3271293"/>
          </a:xfrm>
          <a:custGeom>
            <a:avLst/>
            <a:gdLst/>
            <a:ahLst/>
            <a:cxnLst/>
            <a:rect r="r" b="b" t="t" l="l"/>
            <a:pathLst>
              <a:path h="3271293" w="3507234">
                <a:moveTo>
                  <a:pt x="0" y="0"/>
                </a:moveTo>
                <a:lnTo>
                  <a:pt x="3507234" y="0"/>
                </a:lnTo>
                <a:lnTo>
                  <a:pt x="3507234" y="3271293"/>
                </a:lnTo>
                <a:lnTo>
                  <a:pt x="0" y="32712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790645" y="6723313"/>
            <a:ext cx="3596382" cy="3563687"/>
          </a:xfrm>
          <a:custGeom>
            <a:avLst/>
            <a:gdLst/>
            <a:ahLst/>
            <a:cxnLst/>
            <a:rect r="r" b="b" t="t" l="l"/>
            <a:pathLst>
              <a:path h="3563687" w="3596382">
                <a:moveTo>
                  <a:pt x="0" y="0"/>
                </a:moveTo>
                <a:lnTo>
                  <a:pt x="3596382" y="0"/>
                </a:lnTo>
                <a:lnTo>
                  <a:pt x="3596382" y="3563687"/>
                </a:lnTo>
                <a:lnTo>
                  <a:pt x="0" y="3563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264227" y="2375662"/>
            <a:ext cx="8507983" cy="7073105"/>
          </a:xfrm>
          <a:custGeom>
            <a:avLst/>
            <a:gdLst/>
            <a:ahLst/>
            <a:cxnLst/>
            <a:rect r="r" b="b" t="t" l="l"/>
            <a:pathLst>
              <a:path h="7073105" w="8507983">
                <a:moveTo>
                  <a:pt x="0" y="0"/>
                </a:moveTo>
                <a:lnTo>
                  <a:pt x="8507983" y="0"/>
                </a:lnTo>
                <a:lnTo>
                  <a:pt x="8507983" y="7073105"/>
                </a:lnTo>
                <a:lnTo>
                  <a:pt x="0" y="7073105"/>
                </a:lnTo>
                <a:lnTo>
                  <a:pt x="0" y="0"/>
                </a:lnTo>
                <a:close/>
              </a:path>
            </a:pathLst>
          </a:custGeom>
          <a:blipFill>
            <a:blip r:embed="rId10"/>
            <a:stretch>
              <a:fillRect l="0" t="0" r="0" b="0"/>
            </a:stretch>
          </a:blipFill>
        </p:spPr>
      </p:sp>
      <p:sp>
        <p:nvSpPr>
          <p:cNvPr name="Freeform 7" id="7"/>
          <p:cNvSpPr/>
          <p:nvPr/>
        </p:nvSpPr>
        <p:spPr>
          <a:xfrm flipH="false" flipV="false" rot="0">
            <a:off x="1777137" y="1401226"/>
            <a:ext cx="15482163" cy="793461"/>
          </a:xfrm>
          <a:custGeom>
            <a:avLst/>
            <a:gdLst/>
            <a:ahLst/>
            <a:cxnLst/>
            <a:rect r="r" b="b" t="t" l="l"/>
            <a:pathLst>
              <a:path h="793461" w="15482163">
                <a:moveTo>
                  <a:pt x="0" y="0"/>
                </a:moveTo>
                <a:lnTo>
                  <a:pt x="15482163" y="0"/>
                </a:lnTo>
                <a:lnTo>
                  <a:pt x="15482163" y="793461"/>
                </a:lnTo>
                <a:lnTo>
                  <a:pt x="0" y="793461"/>
                </a:lnTo>
                <a:lnTo>
                  <a:pt x="0" y="0"/>
                </a:lnTo>
                <a:close/>
              </a:path>
            </a:pathLst>
          </a:custGeom>
          <a:blipFill>
            <a:blip r:embed="rId11"/>
            <a:stretch>
              <a:fillRect l="0" t="0" r="0" b="0"/>
            </a:stretch>
          </a:blipFill>
        </p:spPr>
      </p:sp>
      <p:sp>
        <p:nvSpPr>
          <p:cNvPr name="TextBox 8" id="8"/>
          <p:cNvSpPr txBox="true"/>
          <p:nvPr/>
        </p:nvSpPr>
        <p:spPr>
          <a:xfrm rot="0">
            <a:off x="3863690" y="397539"/>
            <a:ext cx="10518098" cy="819151"/>
          </a:xfrm>
          <a:prstGeom prst="rect">
            <a:avLst/>
          </a:prstGeom>
        </p:spPr>
        <p:txBody>
          <a:bodyPr anchor="t" rtlCol="false" tIns="0" lIns="0" bIns="0" rIns="0">
            <a:spAutoFit/>
          </a:bodyPr>
          <a:lstStyle/>
          <a:p>
            <a:pPr algn="ctr">
              <a:lnSpc>
                <a:spcPts val="6000"/>
              </a:lnSpc>
            </a:pPr>
            <a:r>
              <a:rPr lang="en-US" b="true" sz="6000">
                <a:solidFill>
                  <a:srgbClr val="000000"/>
                </a:solidFill>
                <a:latin typeface="Cabin Sketch Bold"/>
                <a:ea typeface="Cabin Sketch Bold"/>
                <a:cs typeface="Cabin Sketch Bold"/>
                <a:sym typeface="Cabin Sketch Bold"/>
              </a:rPr>
              <a:t>VISTAS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397912" y="302289"/>
            <a:ext cx="17283854" cy="9647533"/>
          </a:xfrm>
          <a:custGeom>
            <a:avLst/>
            <a:gdLst/>
            <a:ahLst/>
            <a:cxnLst/>
            <a:rect r="r" b="b" t="t" l="l"/>
            <a:pathLst>
              <a:path h="9647533" w="17283854">
                <a:moveTo>
                  <a:pt x="0" y="0"/>
                </a:moveTo>
                <a:lnTo>
                  <a:pt x="17283854" y="0"/>
                </a:lnTo>
                <a:lnTo>
                  <a:pt x="17283854" y="9647533"/>
                </a:lnTo>
                <a:lnTo>
                  <a:pt x="0" y="9647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25" y="0"/>
            <a:ext cx="2992386" cy="1980415"/>
          </a:xfrm>
          <a:custGeom>
            <a:avLst/>
            <a:gdLst/>
            <a:ahLst/>
            <a:cxnLst/>
            <a:rect r="r" b="b" t="t" l="l"/>
            <a:pathLst>
              <a:path h="1980415" w="2992386">
                <a:moveTo>
                  <a:pt x="2992386" y="0"/>
                </a:moveTo>
                <a:lnTo>
                  <a:pt x="0" y="0"/>
                </a:lnTo>
                <a:lnTo>
                  <a:pt x="0" y="1980415"/>
                </a:lnTo>
                <a:lnTo>
                  <a:pt x="2992386" y="1980415"/>
                </a:lnTo>
                <a:lnTo>
                  <a:pt x="299238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95652" y="3965054"/>
            <a:ext cx="3507234" cy="3271293"/>
          </a:xfrm>
          <a:custGeom>
            <a:avLst/>
            <a:gdLst/>
            <a:ahLst/>
            <a:cxnLst/>
            <a:rect r="r" b="b" t="t" l="l"/>
            <a:pathLst>
              <a:path h="3271293" w="3507234">
                <a:moveTo>
                  <a:pt x="0" y="0"/>
                </a:moveTo>
                <a:lnTo>
                  <a:pt x="3507234" y="0"/>
                </a:lnTo>
                <a:lnTo>
                  <a:pt x="3507234" y="3271293"/>
                </a:lnTo>
                <a:lnTo>
                  <a:pt x="0" y="32712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790645" y="6723313"/>
            <a:ext cx="3596382" cy="3563687"/>
          </a:xfrm>
          <a:custGeom>
            <a:avLst/>
            <a:gdLst/>
            <a:ahLst/>
            <a:cxnLst/>
            <a:rect r="r" b="b" t="t" l="l"/>
            <a:pathLst>
              <a:path h="3563687" w="3596382">
                <a:moveTo>
                  <a:pt x="0" y="0"/>
                </a:moveTo>
                <a:lnTo>
                  <a:pt x="3596382" y="0"/>
                </a:lnTo>
                <a:lnTo>
                  <a:pt x="3596382" y="3563687"/>
                </a:lnTo>
                <a:lnTo>
                  <a:pt x="0" y="3563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779571" y="2741993"/>
            <a:ext cx="7520533" cy="7207829"/>
          </a:xfrm>
          <a:custGeom>
            <a:avLst/>
            <a:gdLst/>
            <a:ahLst/>
            <a:cxnLst/>
            <a:rect r="r" b="b" t="t" l="l"/>
            <a:pathLst>
              <a:path h="7207829" w="7520533">
                <a:moveTo>
                  <a:pt x="0" y="0"/>
                </a:moveTo>
                <a:lnTo>
                  <a:pt x="7520534" y="0"/>
                </a:lnTo>
                <a:lnTo>
                  <a:pt x="7520534" y="7207829"/>
                </a:lnTo>
                <a:lnTo>
                  <a:pt x="0" y="7207829"/>
                </a:lnTo>
                <a:lnTo>
                  <a:pt x="0" y="0"/>
                </a:lnTo>
                <a:close/>
              </a:path>
            </a:pathLst>
          </a:custGeom>
          <a:blipFill>
            <a:blip r:embed="rId10"/>
            <a:stretch>
              <a:fillRect l="0" t="0" r="0" b="0"/>
            </a:stretch>
          </a:blipFill>
        </p:spPr>
      </p:sp>
      <p:sp>
        <p:nvSpPr>
          <p:cNvPr name="Freeform 7" id="7"/>
          <p:cNvSpPr/>
          <p:nvPr/>
        </p:nvSpPr>
        <p:spPr>
          <a:xfrm flipH="false" flipV="false" rot="0">
            <a:off x="2069545" y="1588225"/>
            <a:ext cx="14940585" cy="784381"/>
          </a:xfrm>
          <a:custGeom>
            <a:avLst/>
            <a:gdLst/>
            <a:ahLst/>
            <a:cxnLst/>
            <a:rect r="r" b="b" t="t" l="l"/>
            <a:pathLst>
              <a:path h="784381" w="14940585">
                <a:moveTo>
                  <a:pt x="0" y="0"/>
                </a:moveTo>
                <a:lnTo>
                  <a:pt x="14940586" y="0"/>
                </a:lnTo>
                <a:lnTo>
                  <a:pt x="14940586" y="784381"/>
                </a:lnTo>
                <a:lnTo>
                  <a:pt x="0" y="784381"/>
                </a:lnTo>
                <a:lnTo>
                  <a:pt x="0" y="0"/>
                </a:lnTo>
                <a:close/>
              </a:path>
            </a:pathLst>
          </a:custGeom>
          <a:blipFill>
            <a:blip r:embed="rId11"/>
            <a:stretch>
              <a:fillRect l="0" t="0" r="0" b="0"/>
            </a:stretch>
          </a:blipFill>
        </p:spPr>
      </p:sp>
      <p:sp>
        <p:nvSpPr>
          <p:cNvPr name="TextBox 8" id="8"/>
          <p:cNvSpPr txBox="true"/>
          <p:nvPr/>
        </p:nvSpPr>
        <p:spPr>
          <a:xfrm rot="0">
            <a:off x="397912" y="397539"/>
            <a:ext cx="17283854" cy="819151"/>
          </a:xfrm>
          <a:prstGeom prst="rect">
            <a:avLst/>
          </a:prstGeom>
        </p:spPr>
        <p:txBody>
          <a:bodyPr anchor="t" rtlCol="false" tIns="0" lIns="0" bIns="0" rIns="0">
            <a:spAutoFit/>
          </a:bodyPr>
          <a:lstStyle/>
          <a:p>
            <a:pPr algn="ctr">
              <a:lnSpc>
                <a:spcPts val="6000"/>
              </a:lnSpc>
            </a:pPr>
            <a:r>
              <a:rPr lang="en-US" b="true" sz="6000">
                <a:solidFill>
                  <a:srgbClr val="000000"/>
                </a:solidFill>
                <a:latin typeface="Cabin Sketch Bold"/>
                <a:ea typeface="Cabin Sketch Bold"/>
                <a:cs typeface="Cabin Sketch Bold"/>
                <a:sym typeface="Cabin Sketch Bold"/>
              </a:rPr>
              <a:t>PROCEDIMIENTOS ALMACENADOS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397912" y="302289"/>
            <a:ext cx="17283854" cy="9647533"/>
          </a:xfrm>
          <a:custGeom>
            <a:avLst/>
            <a:gdLst/>
            <a:ahLst/>
            <a:cxnLst/>
            <a:rect r="r" b="b" t="t" l="l"/>
            <a:pathLst>
              <a:path h="9647533" w="17283854">
                <a:moveTo>
                  <a:pt x="0" y="0"/>
                </a:moveTo>
                <a:lnTo>
                  <a:pt x="17283854" y="0"/>
                </a:lnTo>
                <a:lnTo>
                  <a:pt x="17283854" y="9647533"/>
                </a:lnTo>
                <a:lnTo>
                  <a:pt x="0" y="9647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25" y="0"/>
            <a:ext cx="2992386" cy="1980415"/>
          </a:xfrm>
          <a:custGeom>
            <a:avLst/>
            <a:gdLst/>
            <a:ahLst/>
            <a:cxnLst/>
            <a:rect r="r" b="b" t="t" l="l"/>
            <a:pathLst>
              <a:path h="1980415" w="2992386">
                <a:moveTo>
                  <a:pt x="2992386" y="0"/>
                </a:moveTo>
                <a:lnTo>
                  <a:pt x="0" y="0"/>
                </a:lnTo>
                <a:lnTo>
                  <a:pt x="0" y="1980415"/>
                </a:lnTo>
                <a:lnTo>
                  <a:pt x="2992386" y="1980415"/>
                </a:lnTo>
                <a:lnTo>
                  <a:pt x="299238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95652" y="3965054"/>
            <a:ext cx="3507234" cy="3271293"/>
          </a:xfrm>
          <a:custGeom>
            <a:avLst/>
            <a:gdLst/>
            <a:ahLst/>
            <a:cxnLst/>
            <a:rect r="r" b="b" t="t" l="l"/>
            <a:pathLst>
              <a:path h="3271293" w="3507234">
                <a:moveTo>
                  <a:pt x="0" y="0"/>
                </a:moveTo>
                <a:lnTo>
                  <a:pt x="3507234" y="0"/>
                </a:lnTo>
                <a:lnTo>
                  <a:pt x="3507234" y="3271293"/>
                </a:lnTo>
                <a:lnTo>
                  <a:pt x="0" y="32712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790645" y="6723313"/>
            <a:ext cx="3596382" cy="3563687"/>
          </a:xfrm>
          <a:custGeom>
            <a:avLst/>
            <a:gdLst/>
            <a:ahLst/>
            <a:cxnLst/>
            <a:rect r="r" b="b" t="t" l="l"/>
            <a:pathLst>
              <a:path h="3563687" w="3596382">
                <a:moveTo>
                  <a:pt x="0" y="0"/>
                </a:moveTo>
                <a:lnTo>
                  <a:pt x="3596382" y="0"/>
                </a:lnTo>
                <a:lnTo>
                  <a:pt x="3596382" y="3563687"/>
                </a:lnTo>
                <a:lnTo>
                  <a:pt x="0" y="3563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864074" y="3129127"/>
            <a:ext cx="7448469" cy="5192772"/>
          </a:xfrm>
          <a:custGeom>
            <a:avLst/>
            <a:gdLst/>
            <a:ahLst/>
            <a:cxnLst/>
            <a:rect r="r" b="b" t="t" l="l"/>
            <a:pathLst>
              <a:path h="5192772" w="7448469">
                <a:moveTo>
                  <a:pt x="0" y="0"/>
                </a:moveTo>
                <a:lnTo>
                  <a:pt x="7448469" y="0"/>
                </a:lnTo>
                <a:lnTo>
                  <a:pt x="7448469" y="5192771"/>
                </a:lnTo>
                <a:lnTo>
                  <a:pt x="0" y="5192771"/>
                </a:lnTo>
                <a:lnTo>
                  <a:pt x="0" y="0"/>
                </a:lnTo>
                <a:close/>
              </a:path>
            </a:pathLst>
          </a:custGeom>
          <a:blipFill>
            <a:blip r:embed="rId10"/>
            <a:stretch>
              <a:fillRect l="0" t="0" r="0" b="-99729"/>
            </a:stretch>
          </a:blipFill>
        </p:spPr>
      </p:sp>
      <p:sp>
        <p:nvSpPr>
          <p:cNvPr name="Freeform 7" id="7"/>
          <p:cNvSpPr/>
          <p:nvPr/>
        </p:nvSpPr>
        <p:spPr>
          <a:xfrm flipH="false" flipV="false" rot="0">
            <a:off x="1028700" y="1216689"/>
            <a:ext cx="17129603" cy="813656"/>
          </a:xfrm>
          <a:custGeom>
            <a:avLst/>
            <a:gdLst/>
            <a:ahLst/>
            <a:cxnLst/>
            <a:rect r="r" b="b" t="t" l="l"/>
            <a:pathLst>
              <a:path h="813656" w="17129603">
                <a:moveTo>
                  <a:pt x="0" y="0"/>
                </a:moveTo>
                <a:lnTo>
                  <a:pt x="17129603" y="0"/>
                </a:lnTo>
                <a:lnTo>
                  <a:pt x="17129603" y="813656"/>
                </a:lnTo>
                <a:lnTo>
                  <a:pt x="0" y="813656"/>
                </a:lnTo>
                <a:lnTo>
                  <a:pt x="0" y="0"/>
                </a:lnTo>
                <a:close/>
              </a:path>
            </a:pathLst>
          </a:custGeom>
          <a:blipFill>
            <a:blip r:embed="rId11"/>
            <a:stretch>
              <a:fillRect l="0" t="0" r="0" b="0"/>
            </a:stretch>
          </a:blipFill>
        </p:spPr>
      </p:sp>
      <p:sp>
        <p:nvSpPr>
          <p:cNvPr name="TextBox 8" id="8"/>
          <p:cNvSpPr txBox="true"/>
          <p:nvPr/>
        </p:nvSpPr>
        <p:spPr>
          <a:xfrm rot="0">
            <a:off x="397912" y="397539"/>
            <a:ext cx="17283854" cy="819151"/>
          </a:xfrm>
          <a:prstGeom prst="rect">
            <a:avLst/>
          </a:prstGeom>
        </p:spPr>
        <p:txBody>
          <a:bodyPr anchor="t" rtlCol="false" tIns="0" lIns="0" bIns="0" rIns="0">
            <a:spAutoFit/>
          </a:bodyPr>
          <a:lstStyle/>
          <a:p>
            <a:pPr algn="ctr">
              <a:lnSpc>
                <a:spcPts val="6000"/>
              </a:lnSpc>
            </a:pPr>
            <a:r>
              <a:rPr lang="en-US" b="true" sz="6000">
                <a:solidFill>
                  <a:srgbClr val="000000"/>
                </a:solidFill>
                <a:latin typeface="Cabin Sketch Bold"/>
                <a:ea typeface="Cabin Sketch Bold"/>
                <a:cs typeface="Cabin Sketch Bold"/>
                <a:sym typeface="Cabin Sketch Bold"/>
              </a:rPr>
              <a:t>FUNCIONES</a:t>
            </a:r>
          </a:p>
        </p:txBody>
      </p:sp>
      <p:sp>
        <p:nvSpPr>
          <p:cNvPr name="Freeform 9" id="9"/>
          <p:cNvSpPr/>
          <p:nvPr/>
        </p:nvSpPr>
        <p:spPr>
          <a:xfrm flipH="false" flipV="false" rot="0">
            <a:off x="8695020" y="3129127"/>
            <a:ext cx="8029205" cy="5192772"/>
          </a:xfrm>
          <a:custGeom>
            <a:avLst/>
            <a:gdLst/>
            <a:ahLst/>
            <a:cxnLst/>
            <a:rect r="r" b="b" t="t" l="l"/>
            <a:pathLst>
              <a:path h="5192772" w="8029205">
                <a:moveTo>
                  <a:pt x="0" y="0"/>
                </a:moveTo>
                <a:lnTo>
                  <a:pt x="8029205" y="0"/>
                </a:lnTo>
                <a:lnTo>
                  <a:pt x="8029205" y="5192771"/>
                </a:lnTo>
                <a:lnTo>
                  <a:pt x="0" y="5192771"/>
                </a:lnTo>
                <a:lnTo>
                  <a:pt x="0" y="0"/>
                </a:lnTo>
                <a:close/>
              </a:path>
            </a:pathLst>
          </a:custGeom>
          <a:blipFill>
            <a:blip r:embed="rId10"/>
            <a:stretch>
              <a:fillRect l="0" t="-115302"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397912" y="302289"/>
            <a:ext cx="17283854" cy="9647533"/>
          </a:xfrm>
          <a:custGeom>
            <a:avLst/>
            <a:gdLst/>
            <a:ahLst/>
            <a:cxnLst/>
            <a:rect r="r" b="b" t="t" l="l"/>
            <a:pathLst>
              <a:path h="9647533" w="17283854">
                <a:moveTo>
                  <a:pt x="0" y="0"/>
                </a:moveTo>
                <a:lnTo>
                  <a:pt x="17283854" y="0"/>
                </a:lnTo>
                <a:lnTo>
                  <a:pt x="17283854" y="9647533"/>
                </a:lnTo>
                <a:lnTo>
                  <a:pt x="0" y="9647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25" y="0"/>
            <a:ext cx="2992386" cy="1980415"/>
          </a:xfrm>
          <a:custGeom>
            <a:avLst/>
            <a:gdLst/>
            <a:ahLst/>
            <a:cxnLst/>
            <a:rect r="r" b="b" t="t" l="l"/>
            <a:pathLst>
              <a:path h="1980415" w="2992386">
                <a:moveTo>
                  <a:pt x="2992386" y="0"/>
                </a:moveTo>
                <a:lnTo>
                  <a:pt x="0" y="0"/>
                </a:lnTo>
                <a:lnTo>
                  <a:pt x="0" y="1980415"/>
                </a:lnTo>
                <a:lnTo>
                  <a:pt x="2992386" y="1980415"/>
                </a:lnTo>
                <a:lnTo>
                  <a:pt x="299238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95652" y="3965054"/>
            <a:ext cx="3507234" cy="3271293"/>
          </a:xfrm>
          <a:custGeom>
            <a:avLst/>
            <a:gdLst/>
            <a:ahLst/>
            <a:cxnLst/>
            <a:rect r="r" b="b" t="t" l="l"/>
            <a:pathLst>
              <a:path h="3271293" w="3507234">
                <a:moveTo>
                  <a:pt x="0" y="0"/>
                </a:moveTo>
                <a:lnTo>
                  <a:pt x="3507234" y="0"/>
                </a:lnTo>
                <a:lnTo>
                  <a:pt x="3507234" y="3271293"/>
                </a:lnTo>
                <a:lnTo>
                  <a:pt x="0" y="32712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790645" y="6723313"/>
            <a:ext cx="3596382" cy="3563687"/>
          </a:xfrm>
          <a:custGeom>
            <a:avLst/>
            <a:gdLst/>
            <a:ahLst/>
            <a:cxnLst/>
            <a:rect r="r" b="b" t="t" l="l"/>
            <a:pathLst>
              <a:path h="3563687" w="3596382">
                <a:moveTo>
                  <a:pt x="0" y="0"/>
                </a:moveTo>
                <a:lnTo>
                  <a:pt x="3596382" y="0"/>
                </a:lnTo>
                <a:lnTo>
                  <a:pt x="3596382" y="3563687"/>
                </a:lnTo>
                <a:lnTo>
                  <a:pt x="0" y="3563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354460" y="2671937"/>
            <a:ext cx="10125753" cy="7277885"/>
          </a:xfrm>
          <a:custGeom>
            <a:avLst/>
            <a:gdLst/>
            <a:ahLst/>
            <a:cxnLst/>
            <a:rect r="r" b="b" t="t" l="l"/>
            <a:pathLst>
              <a:path h="7277885" w="10125753">
                <a:moveTo>
                  <a:pt x="0" y="0"/>
                </a:moveTo>
                <a:lnTo>
                  <a:pt x="10125753" y="0"/>
                </a:lnTo>
                <a:lnTo>
                  <a:pt x="10125753" y="7277885"/>
                </a:lnTo>
                <a:lnTo>
                  <a:pt x="0" y="7277885"/>
                </a:lnTo>
                <a:lnTo>
                  <a:pt x="0" y="0"/>
                </a:lnTo>
                <a:close/>
              </a:path>
            </a:pathLst>
          </a:custGeom>
          <a:blipFill>
            <a:blip r:embed="rId10"/>
            <a:stretch>
              <a:fillRect l="0" t="0" r="0" b="0"/>
            </a:stretch>
          </a:blipFill>
        </p:spPr>
      </p:sp>
      <p:sp>
        <p:nvSpPr>
          <p:cNvPr name="Freeform 7" id="7"/>
          <p:cNvSpPr/>
          <p:nvPr/>
        </p:nvSpPr>
        <p:spPr>
          <a:xfrm flipH="false" flipV="false" rot="0">
            <a:off x="903746" y="1216689"/>
            <a:ext cx="17027180" cy="830075"/>
          </a:xfrm>
          <a:custGeom>
            <a:avLst/>
            <a:gdLst/>
            <a:ahLst/>
            <a:cxnLst/>
            <a:rect r="r" b="b" t="t" l="l"/>
            <a:pathLst>
              <a:path h="830075" w="17027180">
                <a:moveTo>
                  <a:pt x="0" y="0"/>
                </a:moveTo>
                <a:lnTo>
                  <a:pt x="17027180" y="0"/>
                </a:lnTo>
                <a:lnTo>
                  <a:pt x="17027180" y="830075"/>
                </a:lnTo>
                <a:lnTo>
                  <a:pt x="0" y="830075"/>
                </a:lnTo>
                <a:lnTo>
                  <a:pt x="0" y="0"/>
                </a:lnTo>
                <a:close/>
              </a:path>
            </a:pathLst>
          </a:custGeom>
          <a:blipFill>
            <a:blip r:embed="rId11"/>
            <a:stretch>
              <a:fillRect l="0" t="0" r="0" b="0"/>
            </a:stretch>
          </a:blipFill>
        </p:spPr>
      </p:sp>
      <p:sp>
        <p:nvSpPr>
          <p:cNvPr name="TextBox 8" id="8"/>
          <p:cNvSpPr txBox="true"/>
          <p:nvPr/>
        </p:nvSpPr>
        <p:spPr>
          <a:xfrm rot="0">
            <a:off x="397912" y="397539"/>
            <a:ext cx="17283854" cy="819151"/>
          </a:xfrm>
          <a:prstGeom prst="rect">
            <a:avLst/>
          </a:prstGeom>
        </p:spPr>
        <p:txBody>
          <a:bodyPr anchor="t" rtlCol="false" tIns="0" lIns="0" bIns="0" rIns="0">
            <a:spAutoFit/>
          </a:bodyPr>
          <a:lstStyle/>
          <a:p>
            <a:pPr algn="ctr">
              <a:lnSpc>
                <a:spcPts val="6000"/>
              </a:lnSpc>
            </a:pPr>
            <a:r>
              <a:rPr lang="en-US" b="true" sz="6000">
                <a:solidFill>
                  <a:srgbClr val="000000"/>
                </a:solidFill>
                <a:latin typeface="Cabin Sketch Bold"/>
                <a:ea typeface="Cabin Sketch Bold"/>
                <a:cs typeface="Cabin Sketch Bold"/>
                <a:sym typeface="Cabin Sketch Bold"/>
              </a:rPr>
              <a:t>DISPARADORES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397912" y="302289"/>
            <a:ext cx="17283854" cy="9647533"/>
          </a:xfrm>
          <a:custGeom>
            <a:avLst/>
            <a:gdLst/>
            <a:ahLst/>
            <a:cxnLst/>
            <a:rect r="r" b="b" t="t" l="l"/>
            <a:pathLst>
              <a:path h="9647533" w="17283854">
                <a:moveTo>
                  <a:pt x="0" y="0"/>
                </a:moveTo>
                <a:lnTo>
                  <a:pt x="17283854" y="0"/>
                </a:lnTo>
                <a:lnTo>
                  <a:pt x="17283854" y="9647533"/>
                </a:lnTo>
                <a:lnTo>
                  <a:pt x="0" y="9647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25" y="0"/>
            <a:ext cx="2992386" cy="1980415"/>
          </a:xfrm>
          <a:custGeom>
            <a:avLst/>
            <a:gdLst/>
            <a:ahLst/>
            <a:cxnLst/>
            <a:rect r="r" b="b" t="t" l="l"/>
            <a:pathLst>
              <a:path h="1980415" w="2992386">
                <a:moveTo>
                  <a:pt x="2992386" y="0"/>
                </a:moveTo>
                <a:lnTo>
                  <a:pt x="0" y="0"/>
                </a:lnTo>
                <a:lnTo>
                  <a:pt x="0" y="1980415"/>
                </a:lnTo>
                <a:lnTo>
                  <a:pt x="2992386" y="1980415"/>
                </a:lnTo>
                <a:lnTo>
                  <a:pt x="299238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95652" y="3965054"/>
            <a:ext cx="3507234" cy="3271293"/>
          </a:xfrm>
          <a:custGeom>
            <a:avLst/>
            <a:gdLst/>
            <a:ahLst/>
            <a:cxnLst/>
            <a:rect r="r" b="b" t="t" l="l"/>
            <a:pathLst>
              <a:path h="3271293" w="3507234">
                <a:moveTo>
                  <a:pt x="0" y="0"/>
                </a:moveTo>
                <a:lnTo>
                  <a:pt x="3507234" y="0"/>
                </a:lnTo>
                <a:lnTo>
                  <a:pt x="3507234" y="3271293"/>
                </a:lnTo>
                <a:lnTo>
                  <a:pt x="0" y="32712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790645" y="6723313"/>
            <a:ext cx="3596382" cy="3563687"/>
          </a:xfrm>
          <a:custGeom>
            <a:avLst/>
            <a:gdLst/>
            <a:ahLst/>
            <a:cxnLst/>
            <a:rect r="r" b="b" t="t" l="l"/>
            <a:pathLst>
              <a:path h="3563687" w="3596382">
                <a:moveTo>
                  <a:pt x="0" y="0"/>
                </a:moveTo>
                <a:lnTo>
                  <a:pt x="3596382" y="0"/>
                </a:lnTo>
                <a:lnTo>
                  <a:pt x="3596382" y="3563687"/>
                </a:lnTo>
                <a:lnTo>
                  <a:pt x="0" y="3563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2371551" y="1746574"/>
            <a:ext cx="13544899" cy="7511726"/>
          </a:xfrm>
          <a:custGeom>
            <a:avLst/>
            <a:gdLst/>
            <a:ahLst/>
            <a:cxnLst/>
            <a:rect r="r" b="b" t="t" l="l"/>
            <a:pathLst>
              <a:path h="7511726" w="13544899">
                <a:moveTo>
                  <a:pt x="0" y="0"/>
                </a:moveTo>
                <a:lnTo>
                  <a:pt x="13544898" y="0"/>
                </a:lnTo>
                <a:lnTo>
                  <a:pt x="13544898" y="7511726"/>
                </a:lnTo>
                <a:lnTo>
                  <a:pt x="0" y="7511726"/>
                </a:lnTo>
                <a:lnTo>
                  <a:pt x="0" y="0"/>
                </a:lnTo>
                <a:close/>
              </a:path>
            </a:pathLst>
          </a:custGeom>
          <a:blipFill>
            <a:blip r:embed="rId10"/>
            <a:stretch>
              <a:fillRect l="0" t="0" r="0" b="0"/>
            </a:stretch>
          </a:blipFill>
        </p:spPr>
      </p:sp>
      <p:sp>
        <p:nvSpPr>
          <p:cNvPr name="TextBox 7" id="7"/>
          <p:cNvSpPr txBox="true"/>
          <p:nvPr/>
        </p:nvSpPr>
        <p:spPr>
          <a:xfrm rot="0">
            <a:off x="397912" y="397539"/>
            <a:ext cx="17283854" cy="819151"/>
          </a:xfrm>
          <a:prstGeom prst="rect">
            <a:avLst/>
          </a:prstGeom>
        </p:spPr>
        <p:txBody>
          <a:bodyPr anchor="t" rtlCol="false" tIns="0" lIns="0" bIns="0" rIns="0">
            <a:spAutoFit/>
          </a:bodyPr>
          <a:lstStyle/>
          <a:p>
            <a:pPr algn="ctr">
              <a:lnSpc>
                <a:spcPts val="6000"/>
              </a:lnSpc>
            </a:pPr>
            <a:r>
              <a:rPr lang="en-US" b="true" sz="6000">
                <a:solidFill>
                  <a:srgbClr val="000000"/>
                </a:solidFill>
                <a:latin typeface="Cabin Sketch Bold"/>
                <a:ea typeface="Cabin Sketch Bold"/>
                <a:cs typeface="Cabin Sketch Bold"/>
                <a:sym typeface="Cabin Sketch Bold"/>
              </a:rPr>
              <a:t>DISPARADORES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9984152" y="-3009437"/>
            <a:ext cx="6962291" cy="6833684"/>
          </a:xfrm>
          <a:custGeom>
            <a:avLst/>
            <a:gdLst/>
            <a:ahLst/>
            <a:cxnLst/>
            <a:rect r="r" b="b" t="t" l="l"/>
            <a:pathLst>
              <a:path h="6833684" w="6962291">
                <a:moveTo>
                  <a:pt x="0" y="0"/>
                </a:moveTo>
                <a:lnTo>
                  <a:pt x="6962291" y="0"/>
                </a:lnTo>
                <a:lnTo>
                  <a:pt x="6962291" y="6833684"/>
                </a:lnTo>
                <a:lnTo>
                  <a:pt x="0" y="6833684"/>
                </a:lnTo>
                <a:lnTo>
                  <a:pt x="0" y="0"/>
                </a:lnTo>
                <a:close/>
              </a:path>
            </a:pathLst>
          </a:custGeom>
          <a:blipFill>
            <a:blip r:embed="rId2">
              <a:extLst>
                <a:ext uri="{96DAC541-7B7A-43D3-8B79-37D633B846F1}">
                  <asvg:svgBlip xmlns:asvg="http://schemas.microsoft.com/office/drawing/2016/SVG/main" r:embed="rId3"/>
                </a:ext>
              </a:extLst>
            </a:blip>
            <a:stretch>
              <a:fillRect l="0" t="0" r="-75843" b="0"/>
            </a:stretch>
          </a:blipFill>
        </p:spPr>
      </p:sp>
      <p:sp>
        <p:nvSpPr>
          <p:cNvPr name="Freeform 3" id="3"/>
          <p:cNvSpPr/>
          <p:nvPr/>
        </p:nvSpPr>
        <p:spPr>
          <a:xfrm flipH="false" flipV="false" rot="0">
            <a:off x="-2897654" y="4068733"/>
            <a:ext cx="5287232" cy="5189567"/>
          </a:xfrm>
          <a:custGeom>
            <a:avLst/>
            <a:gdLst/>
            <a:ahLst/>
            <a:cxnLst/>
            <a:rect r="r" b="b" t="t" l="l"/>
            <a:pathLst>
              <a:path h="5189567" w="5287232">
                <a:moveTo>
                  <a:pt x="0" y="0"/>
                </a:moveTo>
                <a:lnTo>
                  <a:pt x="5287232" y="0"/>
                </a:lnTo>
                <a:lnTo>
                  <a:pt x="5287232" y="5189567"/>
                </a:lnTo>
                <a:lnTo>
                  <a:pt x="0" y="5189567"/>
                </a:lnTo>
                <a:lnTo>
                  <a:pt x="0" y="0"/>
                </a:lnTo>
                <a:close/>
              </a:path>
            </a:pathLst>
          </a:custGeom>
          <a:blipFill>
            <a:blip r:embed="rId4">
              <a:extLst>
                <a:ext uri="{96DAC541-7B7A-43D3-8B79-37D633B846F1}">
                  <asvg:svgBlip xmlns:asvg="http://schemas.microsoft.com/office/drawing/2016/SVG/main" r:embed="rId5"/>
                </a:ext>
              </a:extLst>
            </a:blip>
            <a:stretch>
              <a:fillRect l="0" t="0" r="-75843" b="0"/>
            </a:stretch>
          </a:blipFill>
        </p:spPr>
      </p:sp>
      <p:sp>
        <p:nvSpPr>
          <p:cNvPr name="Freeform 4" id="4"/>
          <p:cNvSpPr/>
          <p:nvPr/>
        </p:nvSpPr>
        <p:spPr>
          <a:xfrm flipH="false" flipV="false" rot="0">
            <a:off x="317308" y="1215146"/>
            <a:ext cx="13147990" cy="7338969"/>
          </a:xfrm>
          <a:custGeom>
            <a:avLst/>
            <a:gdLst/>
            <a:ahLst/>
            <a:cxnLst/>
            <a:rect r="r" b="b" t="t" l="l"/>
            <a:pathLst>
              <a:path h="7338969" w="13147990">
                <a:moveTo>
                  <a:pt x="0" y="0"/>
                </a:moveTo>
                <a:lnTo>
                  <a:pt x="13147989" y="0"/>
                </a:lnTo>
                <a:lnTo>
                  <a:pt x="13147989" y="7338968"/>
                </a:lnTo>
                <a:lnTo>
                  <a:pt x="0" y="73389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720004" y="4523368"/>
            <a:ext cx="8452878" cy="8296737"/>
          </a:xfrm>
          <a:custGeom>
            <a:avLst/>
            <a:gdLst/>
            <a:ahLst/>
            <a:cxnLst/>
            <a:rect r="r" b="b" t="t" l="l"/>
            <a:pathLst>
              <a:path h="8296737" w="8452878">
                <a:moveTo>
                  <a:pt x="0" y="0"/>
                </a:moveTo>
                <a:lnTo>
                  <a:pt x="8452878" y="0"/>
                </a:lnTo>
                <a:lnTo>
                  <a:pt x="8452878" y="8296737"/>
                </a:lnTo>
                <a:lnTo>
                  <a:pt x="0" y="8296737"/>
                </a:lnTo>
                <a:lnTo>
                  <a:pt x="0" y="0"/>
                </a:lnTo>
                <a:close/>
              </a:path>
            </a:pathLst>
          </a:custGeom>
          <a:blipFill>
            <a:blip r:embed="rId8">
              <a:extLst>
                <a:ext uri="{96DAC541-7B7A-43D3-8B79-37D633B846F1}">
                  <asvg:svgBlip xmlns:asvg="http://schemas.microsoft.com/office/drawing/2016/SVG/main" r:embed="rId9"/>
                </a:ext>
              </a:extLst>
            </a:blip>
            <a:stretch>
              <a:fillRect l="0" t="0" r="-75843" b="0"/>
            </a:stretch>
          </a:blipFill>
        </p:spPr>
      </p:sp>
      <p:sp>
        <p:nvSpPr>
          <p:cNvPr name="TextBox 6" id="6"/>
          <p:cNvSpPr txBox="true"/>
          <p:nvPr/>
        </p:nvSpPr>
        <p:spPr>
          <a:xfrm rot="0">
            <a:off x="767031" y="3214687"/>
            <a:ext cx="12248544" cy="3781425"/>
          </a:xfrm>
          <a:prstGeom prst="rect">
            <a:avLst/>
          </a:prstGeom>
        </p:spPr>
        <p:txBody>
          <a:bodyPr anchor="t" rtlCol="false" tIns="0" lIns="0" bIns="0" rIns="0">
            <a:spAutoFit/>
          </a:bodyPr>
          <a:lstStyle/>
          <a:p>
            <a:pPr algn="ctr">
              <a:lnSpc>
                <a:spcPts val="4349"/>
              </a:lnSpc>
            </a:pPr>
            <a:r>
              <a:rPr lang="en-US" sz="2999">
                <a:solidFill>
                  <a:srgbClr val="FFFFFF"/>
                </a:solidFill>
                <a:latin typeface="Glacial Indifference"/>
                <a:ea typeface="Glacial Indifference"/>
                <a:cs typeface="Glacial Indifference"/>
                <a:sym typeface="Glacial Indifference"/>
              </a:rPr>
              <a:t>De acuerdo a mi experiencia personal durante la clase, puedo decir que sin duda lo que mas se me ha dificultado son las subconsultas complejas al igual que los joins, a veces se me dificulta entender para que sirven, y si no entiendo para que sirven, menos su sintaxis, sin embargo de acuerdo al PIA, no he tenido ningún problema, pues al tener una selección libre del tema me senti mas motivada a investigar y aprender por mi cuenta cada apartado del PIA.</a:t>
            </a:r>
          </a:p>
        </p:txBody>
      </p:sp>
      <p:sp>
        <p:nvSpPr>
          <p:cNvPr name="TextBox 7" id="7"/>
          <p:cNvSpPr txBox="true"/>
          <p:nvPr/>
        </p:nvSpPr>
        <p:spPr>
          <a:xfrm rot="0">
            <a:off x="317308" y="1310396"/>
            <a:ext cx="13147990" cy="1581151"/>
          </a:xfrm>
          <a:prstGeom prst="rect">
            <a:avLst/>
          </a:prstGeom>
        </p:spPr>
        <p:txBody>
          <a:bodyPr anchor="t" rtlCol="false" tIns="0" lIns="0" bIns="0" rIns="0">
            <a:spAutoFit/>
          </a:bodyPr>
          <a:lstStyle/>
          <a:p>
            <a:pPr algn="ctr">
              <a:lnSpc>
                <a:spcPts val="6000"/>
              </a:lnSpc>
            </a:pPr>
            <a:r>
              <a:rPr lang="en-US" b="true" sz="6000">
                <a:solidFill>
                  <a:srgbClr val="FFFFFF"/>
                </a:solidFill>
                <a:latin typeface="Cabin Sketch Bold"/>
                <a:ea typeface="Cabin Sketch Bold"/>
                <a:cs typeface="Cabin Sketch Bold"/>
                <a:sym typeface="Cabin Sketch Bold"/>
              </a:rPr>
              <a:t>¿QUE ES LO MAS COMPLICADO DE LA PROGRAMACION DE SQL?</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9984152" y="-3009437"/>
            <a:ext cx="6962291" cy="6833684"/>
          </a:xfrm>
          <a:custGeom>
            <a:avLst/>
            <a:gdLst/>
            <a:ahLst/>
            <a:cxnLst/>
            <a:rect r="r" b="b" t="t" l="l"/>
            <a:pathLst>
              <a:path h="6833684" w="6962291">
                <a:moveTo>
                  <a:pt x="0" y="0"/>
                </a:moveTo>
                <a:lnTo>
                  <a:pt x="6962291" y="0"/>
                </a:lnTo>
                <a:lnTo>
                  <a:pt x="6962291" y="6833684"/>
                </a:lnTo>
                <a:lnTo>
                  <a:pt x="0" y="6833684"/>
                </a:lnTo>
                <a:lnTo>
                  <a:pt x="0" y="0"/>
                </a:lnTo>
                <a:close/>
              </a:path>
            </a:pathLst>
          </a:custGeom>
          <a:blipFill>
            <a:blip r:embed="rId2">
              <a:extLst>
                <a:ext uri="{96DAC541-7B7A-43D3-8B79-37D633B846F1}">
                  <asvg:svgBlip xmlns:asvg="http://schemas.microsoft.com/office/drawing/2016/SVG/main" r:embed="rId3"/>
                </a:ext>
              </a:extLst>
            </a:blip>
            <a:stretch>
              <a:fillRect l="0" t="0" r="-75843" b="0"/>
            </a:stretch>
          </a:blipFill>
        </p:spPr>
      </p:sp>
      <p:sp>
        <p:nvSpPr>
          <p:cNvPr name="Freeform 3" id="3"/>
          <p:cNvSpPr/>
          <p:nvPr/>
        </p:nvSpPr>
        <p:spPr>
          <a:xfrm flipH="false" flipV="false" rot="0">
            <a:off x="-2897654" y="4068733"/>
            <a:ext cx="5287232" cy="5189567"/>
          </a:xfrm>
          <a:custGeom>
            <a:avLst/>
            <a:gdLst/>
            <a:ahLst/>
            <a:cxnLst/>
            <a:rect r="r" b="b" t="t" l="l"/>
            <a:pathLst>
              <a:path h="5189567" w="5287232">
                <a:moveTo>
                  <a:pt x="0" y="0"/>
                </a:moveTo>
                <a:lnTo>
                  <a:pt x="5287232" y="0"/>
                </a:lnTo>
                <a:lnTo>
                  <a:pt x="5287232" y="5189567"/>
                </a:lnTo>
                <a:lnTo>
                  <a:pt x="0" y="5189567"/>
                </a:lnTo>
                <a:lnTo>
                  <a:pt x="0" y="0"/>
                </a:lnTo>
                <a:close/>
              </a:path>
            </a:pathLst>
          </a:custGeom>
          <a:blipFill>
            <a:blip r:embed="rId4">
              <a:extLst>
                <a:ext uri="{96DAC541-7B7A-43D3-8B79-37D633B846F1}">
                  <asvg:svgBlip xmlns:asvg="http://schemas.microsoft.com/office/drawing/2016/SVG/main" r:embed="rId5"/>
                </a:ext>
              </a:extLst>
            </a:blip>
            <a:stretch>
              <a:fillRect l="0" t="0" r="-75843" b="0"/>
            </a:stretch>
          </a:blipFill>
        </p:spPr>
      </p:sp>
      <p:sp>
        <p:nvSpPr>
          <p:cNvPr name="Freeform 4" id="4"/>
          <p:cNvSpPr/>
          <p:nvPr/>
        </p:nvSpPr>
        <p:spPr>
          <a:xfrm flipH="false" flipV="false" rot="0">
            <a:off x="317308" y="1215146"/>
            <a:ext cx="13147990" cy="7338969"/>
          </a:xfrm>
          <a:custGeom>
            <a:avLst/>
            <a:gdLst/>
            <a:ahLst/>
            <a:cxnLst/>
            <a:rect r="r" b="b" t="t" l="l"/>
            <a:pathLst>
              <a:path h="7338969" w="13147990">
                <a:moveTo>
                  <a:pt x="0" y="0"/>
                </a:moveTo>
                <a:lnTo>
                  <a:pt x="13147989" y="0"/>
                </a:lnTo>
                <a:lnTo>
                  <a:pt x="13147989" y="7338968"/>
                </a:lnTo>
                <a:lnTo>
                  <a:pt x="0" y="73389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720004" y="4523368"/>
            <a:ext cx="8452878" cy="8296737"/>
          </a:xfrm>
          <a:custGeom>
            <a:avLst/>
            <a:gdLst/>
            <a:ahLst/>
            <a:cxnLst/>
            <a:rect r="r" b="b" t="t" l="l"/>
            <a:pathLst>
              <a:path h="8296737" w="8452878">
                <a:moveTo>
                  <a:pt x="0" y="0"/>
                </a:moveTo>
                <a:lnTo>
                  <a:pt x="8452878" y="0"/>
                </a:lnTo>
                <a:lnTo>
                  <a:pt x="8452878" y="8296737"/>
                </a:lnTo>
                <a:lnTo>
                  <a:pt x="0" y="8296737"/>
                </a:lnTo>
                <a:lnTo>
                  <a:pt x="0" y="0"/>
                </a:lnTo>
                <a:close/>
              </a:path>
            </a:pathLst>
          </a:custGeom>
          <a:blipFill>
            <a:blip r:embed="rId8">
              <a:extLst>
                <a:ext uri="{96DAC541-7B7A-43D3-8B79-37D633B846F1}">
                  <asvg:svgBlip xmlns:asvg="http://schemas.microsoft.com/office/drawing/2016/SVG/main" r:embed="rId9"/>
                </a:ext>
              </a:extLst>
            </a:blip>
            <a:stretch>
              <a:fillRect l="0" t="0" r="-75843" b="0"/>
            </a:stretch>
          </a:blipFill>
        </p:spPr>
      </p:sp>
      <p:sp>
        <p:nvSpPr>
          <p:cNvPr name="Freeform 6" id="6"/>
          <p:cNvSpPr/>
          <p:nvPr/>
        </p:nvSpPr>
        <p:spPr>
          <a:xfrm flipH="false" flipV="false" rot="0">
            <a:off x="10902065" y="5578467"/>
            <a:ext cx="7385935" cy="4708533"/>
          </a:xfrm>
          <a:custGeom>
            <a:avLst/>
            <a:gdLst/>
            <a:ahLst/>
            <a:cxnLst/>
            <a:rect r="r" b="b" t="t" l="l"/>
            <a:pathLst>
              <a:path h="4708533" w="7385935">
                <a:moveTo>
                  <a:pt x="0" y="0"/>
                </a:moveTo>
                <a:lnTo>
                  <a:pt x="7385935" y="0"/>
                </a:lnTo>
                <a:lnTo>
                  <a:pt x="7385935" y="4708533"/>
                </a:lnTo>
                <a:lnTo>
                  <a:pt x="0" y="4708533"/>
                </a:lnTo>
                <a:lnTo>
                  <a:pt x="0" y="0"/>
                </a:lnTo>
                <a:close/>
              </a:path>
            </a:pathLst>
          </a:custGeom>
          <a:blipFill>
            <a:blip r:embed="rId10"/>
            <a:stretch>
              <a:fillRect l="0" t="0" r="0" b="0"/>
            </a:stretch>
          </a:blipFill>
        </p:spPr>
      </p:sp>
      <p:sp>
        <p:nvSpPr>
          <p:cNvPr name="Freeform 7" id="7"/>
          <p:cNvSpPr/>
          <p:nvPr/>
        </p:nvSpPr>
        <p:spPr>
          <a:xfrm flipH="false" flipV="false" rot="132182">
            <a:off x="15707809" y="6163162"/>
            <a:ext cx="2477267" cy="1301691"/>
          </a:xfrm>
          <a:custGeom>
            <a:avLst/>
            <a:gdLst/>
            <a:ahLst/>
            <a:cxnLst/>
            <a:rect r="r" b="b" t="t" l="l"/>
            <a:pathLst>
              <a:path h="1301691" w="2477267">
                <a:moveTo>
                  <a:pt x="0" y="0"/>
                </a:moveTo>
                <a:lnTo>
                  <a:pt x="2477267" y="0"/>
                </a:lnTo>
                <a:lnTo>
                  <a:pt x="2477267" y="1301691"/>
                </a:lnTo>
                <a:lnTo>
                  <a:pt x="0" y="130169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1371734" y="6663516"/>
            <a:ext cx="1643840" cy="1636029"/>
          </a:xfrm>
          <a:custGeom>
            <a:avLst/>
            <a:gdLst/>
            <a:ahLst/>
            <a:cxnLst/>
            <a:rect r="r" b="b" t="t" l="l"/>
            <a:pathLst>
              <a:path h="1636029" w="1643840">
                <a:moveTo>
                  <a:pt x="0" y="0"/>
                </a:moveTo>
                <a:lnTo>
                  <a:pt x="1643840" y="0"/>
                </a:lnTo>
                <a:lnTo>
                  <a:pt x="1643840" y="1636030"/>
                </a:lnTo>
                <a:lnTo>
                  <a:pt x="0" y="1636030"/>
                </a:lnTo>
                <a:lnTo>
                  <a:pt x="0" y="0"/>
                </a:lnTo>
                <a:close/>
              </a:path>
            </a:pathLst>
          </a:custGeom>
          <a:blipFill>
            <a:blip r:embed="rId13"/>
            <a:stretch>
              <a:fillRect l="0" t="-6132" r="0" b="-6132"/>
            </a:stretch>
          </a:blipFill>
        </p:spPr>
      </p:sp>
      <p:sp>
        <p:nvSpPr>
          <p:cNvPr name="TextBox 9" id="9"/>
          <p:cNvSpPr txBox="true"/>
          <p:nvPr/>
        </p:nvSpPr>
        <p:spPr>
          <a:xfrm rot="0">
            <a:off x="767031" y="3848809"/>
            <a:ext cx="12248544" cy="3238500"/>
          </a:xfrm>
          <a:prstGeom prst="rect">
            <a:avLst/>
          </a:prstGeom>
        </p:spPr>
        <p:txBody>
          <a:bodyPr anchor="t" rtlCol="false" tIns="0" lIns="0" bIns="0" rIns="0">
            <a:spAutoFit/>
          </a:bodyPr>
          <a:lstStyle/>
          <a:p>
            <a:pPr algn="ctr">
              <a:lnSpc>
                <a:spcPts val="4349"/>
              </a:lnSpc>
            </a:pPr>
            <a:r>
              <a:rPr lang="en-US" sz="2999">
                <a:solidFill>
                  <a:srgbClr val="FFFFFF"/>
                </a:solidFill>
                <a:latin typeface="Glacial Indifference"/>
                <a:ea typeface="Glacial Indifference"/>
                <a:cs typeface="Glacial Indifference"/>
                <a:sym typeface="Glacial Indifference"/>
              </a:rPr>
              <a:t>Mi selección es mas en base a la presentación de la aplicación, y en este caso, gana My SQL, ya que su interfaz me parece una mas útil, sencilla y rápida de entender, ademas de que es mas sencillo a la hora de vincularla con aplicaciones móviles.</a:t>
            </a:r>
          </a:p>
          <a:p>
            <a:pPr algn="ctr">
              <a:lnSpc>
                <a:spcPts val="4349"/>
              </a:lnSpc>
            </a:pPr>
            <a:r>
              <a:rPr lang="en-US" sz="2999">
                <a:solidFill>
                  <a:srgbClr val="FFFFFF"/>
                </a:solidFill>
                <a:latin typeface="Glacial Indifference"/>
                <a:ea typeface="Glacial Indifference"/>
                <a:cs typeface="Glacial Indifference"/>
                <a:sym typeface="Glacial Indifference"/>
              </a:rPr>
              <a:t>Definitivamente MySQL ha sido una experiencia muy agradable para mi durante su uso.</a:t>
            </a:r>
          </a:p>
        </p:txBody>
      </p:sp>
      <p:sp>
        <p:nvSpPr>
          <p:cNvPr name="TextBox 10" id="10"/>
          <p:cNvSpPr txBox="true"/>
          <p:nvPr/>
        </p:nvSpPr>
        <p:spPr>
          <a:xfrm rot="0">
            <a:off x="317308" y="1310396"/>
            <a:ext cx="13147990" cy="2343151"/>
          </a:xfrm>
          <a:prstGeom prst="rect">
            <a:avLst/>
          </a:prstGeom>
        </p:spPr>
        <p:txBody>
          <a:bodyPr anchor="t" rtlCol="false" tIns="0" lIns="0" bIns="0" rIns="0">
            <a:spAutoFit/>
          </a:bodyPr>
          <a:lstStyle/>
          <a:p>
            <a:pPr algn="ctr">
              <a:lnSpc>
                <a:spcPts val="6000"/>
              </a:lnSpc>
            </a:pPr>
            <a:r>
              <a:rPr lang="en-US" b="true" sz="6000">
                <a:solidFill>
                  <a:srgbClr val="FFFFFF"/>
                </a:solidFill>
                <a:latin typeface="Cabin Sketch Bold"/>
                <a:ea typeface="Cabin Sketch Bold"/>
                <a:cs typeface="Cabin Sketch Bold"/>
                <a:sym typeface="Cabin Sketch Bold"/>
              </a:rPr>
              <a:t>¿CONOCIENDO MS SQL SERVER Y MYSQL... CON CUAL GESTOR TE QUEDARÍAS Y POR QUE?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A6BFAE"/>
        </a:solidFill>
      </p:bgPr>
    </p:bg>
    <p:spTree>
      <p:nvGrpSpPr>
        <p:cNvPr id="1" name=""/>
        <p:cNvGrpSpPr/>
        <p:nvPr/>
      </p:nvGrpSpPr>
      <p:grpSpPr>
        <a:xfrm>
          <a:off x="0" y="0"/>
          <a:ext cx="0" cy="0"/>
          <a:chOff x="0" y="0"/>
          <a:chExt cx="0" cy="0"/>
        </a:xfrm>
      </p:grpSpPr>
      <p:sp>
        <p:nvSpPr>
          <p:cNvPr name="Freeform 2" id="2"/>
          <p:cNvSpPr/>
          <p:nvPr/>
        </p:nvSpPr>
        <p:spPr>
          <a:xfrm flipH="false" flipV="false" rot="0">
            <a:off x="3759086" y="-6248275"/>
            <a:ext cx="8826226" cy="8663189"/>
          </a:xfrm>
          <a:custGeom>
            <a:avLst/>
            <a:gdLst/>
            <a:ahLst/>
            <a:cxnLst/>
            <a:rect r="r" b="b" t="t" l="l"/>
            <a:pathLst>
              <a:path h="8663189" w="8826226">
                <a:moveTo>
                  <a:pt x="0" y="0"/>
                </a:moveTo>
                <a:lnTo>
                  <a:pt x="8826226" y="0"/>
                </a:lnTo>
                <a:lnTo>
                  <a:pt x="8826226" y="8663189"/>
                </a:lnTo>
                <a:lnTo>
                  <a:pt x="0" y="8663189"/>
                </a:lnTo>
                <a:lnTo>
                  <a:pt x="0" y="0"/>
                </a:lnTo>
                <a:close/>
              </a:path>
            </a:pathLst>
          </a:custGeom>
          <a:blipFill>
            <a:blip r:embed="rId2">
              <a:extLst>
                <a:ext uri="{96DAC541-7B7A-43D3-8B79-37D633B846F1}">
                  <asvg:svgBlip xmlns:asvg="http://schemas.microsoft.com/office/drawing/2016/SVG/main" r:embed="rId3"/>
                </a:ext>
              </a:extLst>
            </a:blip>
            <a:stretch>
              <a:fillRect l="0" t="0" r="-75843" b="0"/>
            </a:stretch>
          </a:blipFill>
        </p:spPr>
      </p:sp>
      <p:sp>
        <p:nvSpPr>
          <p:cNvPr name="Freeform 3" id="3"/>
          <p:cNvSpPr/>
          <p:nvPr/>
        </p:nvSpPr>
        <p:spPr>
          <a:xfrm flipH="false" flipV="false" rot="0">
            <a:off x="5301345" y="1806143"/>
            <a:ext cx="11957955" cy="6674713"/>
          </a:xfrm>
          <a:custGeom>
            <a:avLst/>
            <a:gdLst/>
            <a:ahLst/>
            <a:cxnLst/>
            <a:rect r="r" b="b" t="t" l="l"/>
            <a:pathLst>
              <a:path h="6674713" w="11957955">
                <a:moveTo>
                  <a:pt x="0" y="0"/>
                </a:moveTo>
                <a:lnTo>
                  <a:pt x="11957955" y="0"/>
                </a:lnTo>
                <a:lnTo>
                  <a:pt x="11957955" y="6674714"/>
                </a:lnTo>
                <a:lnTo>
                  <a:pt x="0" y="66747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6977429" y="1934101"/>
            <a:ext cx="9699317" cy="3209399"/>
          </a:xfrm>
          <a:prstGeom prst="rect">
            <a:avLst/>
          </a:prstGeom>
        </p:spPr>
        <p:txBody>
          <a:bodyPr anchor="t" rtlCol="false" tIns="0" lIns="0" bIns="0" rIns="0">
            <a:spAutoFit/>
          </a:bodyPr>
          <a:lstStyle/>
          <a:p>
            <a:pPr algn="ctr">
              <a:lnSpc>
                <a:spcPts val="12137"/>
              </a:lnSpc>
            </a:pPr>
            <a:r>
              <a:rPr lang="en-US" sz="13486">
                <a:solidFill>
                  <a:srgbClr val="343434"/>
                </a:solidFill>
                <a:latin typeface="Cabin Sketch"/>
                <a:ea typeface="Cabin Sketch"/>
                <a:cs typeface="Cabin Sketch"/>
                <a:sym typeface="Cabin Sketch"/>
              </a:rPr>
              <a:t>LINK DEL VIDEO</a:t>
            </a:r>
          </a:p>
        </p:txBody>
      </p:sp>
      <p:sp>
        <p:nvSpPr>
          <p:cNvPr name="Freeform 5" id="5"/>
          <p:cNvSpPr/>
          <p:nvPr/>
        </p:nvSpPr>
        <p:spPr>
          <a:xfrm flipH="false" flipV="false" rot="0">
            <a:off x="-3308163" y="3247925"/>
            <a:ext cx="7930644" cy="7784150"/>
          </a:xfrm>
          <a:custGeom>
            <a:avLst/>
            <a:gdLst/>
            <a:ahLst/>
            <a:cxnLst/>
            <a:rect r="r" b="b" t="t" l="l"/>
            <a:pathLst>
              <a:path h="7784150" w="7930644">
                <a:moveTo>
                  <a:pt x="0" y="0"/>
                </a:moveTo>
                <a:lnTo>
                  <a:pt x="7930643" y="0"/>
                </a:lnTo>
                <a:lnTo>
                  <a:pt x="7930643" y="7784149"/>
                </a:lnTo>
                <a:lnTo>
                  <a:pt x="0" y="7784149"/>
                </a:lnTo>
                <a:lnTo>
                  <a:pt x="0" y="0"/>
                </a:lnTo>
                <a:close/>
              </a:path>
            </a:pathLst>
          </a:custGeom>
          <a:blipFill>
            <a:blip r:embed="rId6">
              <a:extLst>
                <a:ext uri="{96DAC541-7B7A-43D3-8B79-37D633B846F1}">
                  <asvg:svgBlip xmlns:asvg="http://schemas.microsoft.com/office/drawing/2016/SVG/main" r:embed="rId7"/>
                </a:ext>
              </a:extLst>
            </a:blip>
            <a:stretch>
              <a:fillRect l="0" t="0" r="-75843" b="0"/>
            </a:stretch>
          </a:blipFill>
        </p:spPr>
      </p:sp>
      <p:sp>
        <p:nvSpPr>
          <p:cNvPr name="Freeform 6" id="6"/>
          <p:cNvSpPr/>
          <p:nvPr/>
        </p:nvSpPr>
        <p:spPr>
          <a:xfrm flipH="false" flipV="false" rot="0">
            <a:off x="1589869" y="1199612"/>
            <a:ext cx="4660958" cy="7887775"/>
          </a:xfrm>
          <a:custGeom>
            <a:avLst/>
            <a:gdLst/>
            <a:ahLst/>
            <a:cxnLst/>
            <a:rect r="r" b="b" t="t" l="l"/>
            <a:pathLst>
              <a:path h="7887775" w="4660958">
                <a:moveTo>
                  <a:pt x="0" y="0"/>
                </a:moveTo>
                <a:lnTo>
                  <a:pt x="4660958" y="0"/>
                </a:lnTo>
                <a:lnTo>
                  <a:pt x="4660958" y="7887776"/>
                </a:lnTo>
                <a:lnTo>
                  <a:pt x="0" y="78877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7384808" y="4699431"/>
            <a:ext cx="8884558" cy="3781425"/>
          </a:xfrm>
          <a:prstGeom prst="rect">
            <a:avLst/>
          </a:prstGeom>
        </p:spPr>
        <p:txBody>
          <a:bodyPr anchor="t" rtlCol="false" tIns="0" lIns="0" bIns="0" rIns="0">
            <a:spAutoFit/>
          </a:bodyPr>
          <a:lstStyle/>
          <a:p>
            <a:pPr algn="ctr">
              <a:lnSpc>
                <a:spcPts val="4349"/>
              </a:lnSpc>
            </a:pPr>
            <a:r>
              <a:rPr lang="en-US" sz="2999">
                <a:solidFill>
                  <a:srgbClr val="343434"/>
                </a:solidFill>
                <a:latin typeface="Glacial Indifference"/>
                <a:ea typeface="Glacial Indifference"/>
                <a:cs typeface="Glacial Indifference"/>
                <a:sym typeface="Glacial Indifference"/>
              </a:rPr>
              <a:t>https://uanledu.sharepoint.com/:v:/s/Carlos110/EUJy-JB_LTFGqvbOZfy5dikBbfM1CSLT9q27y69YXyVKdw?e=hjnWyF&amp;nav=eyJyZWZlcnJhbEluZm8iOnsicmVmZXJyYWxBcHAiOiJTdHJlYW1XZWJBcHAiLCJyZWZlcnJhbFZpZXciOiJTaGFyZURpYWxvZy1MaW5rIiwicmVmZXJyYWxBcHBQbGF0Zm9ybSI6IldlYiIsInJlZmVycmFsTW9kZSI6InZpZXcifX0%3D</a:t>
            </a:r>
          </a:p>
        </p:txBody>
      </p:sp>
      <p:sp>
        <p:nvSpPr>
          <p:cNvPr name="Freeform 8" id="8"/>
          <p:cNvSpPr/>
          <p:nvPr/>
        </p:nvSpPr>
        <p:spPr>
          <a:xfrm flipH="false" flipV="false" rot="0">
            <a:off x="12271866" y="9087388"/>
            <a:ext cx="6731225" cy="6606887"/>
          </a:xfrm>
          <a:custGeom>
            <a:avLst/>
            <a:gdLst/>
            <a:ahLst/>
            <a:cxnLst/>
            <a:rect r="r" b="b" t="t" l="l"/>
            <a:pathLst>
              <a:path h="6606887" w="6731225">
                <a:moveTo>
                  <a:pt x="0" y="0"/>
                </a:moveTo>
                <a:lnTo>
                  <a:pt x="6731226" y="0"/>
                </a:lnTo>
                <a:lnTo>
                  <a:pt x="6731226" y="6606887"/>
                </a:lnTo>
                <a:lnTo>
                  <a:pt x="0" y="6606887"/>
                </a:lnTo>
                <a:lnTo>
                  <a:pt x="0" y="0"/>
                </a:lnTo>
                <a:close/>
              </a:path>
            </a:pathLst>
          </a:custGeom>
          <a:blipFill>
            <a:blip r:embed="rId10">
              <a:extLst>
                <a:ext uri="{96DAC541-7B7A-43D3-8B79-37D633B846F1}">
                  <asvg:svgBlip xmlns:asvg="http://schemas.microsoft.com/office/drawing/2016/SVG/main" r:embed="rId11"/>
                </a:ext>
              </a:extLst>
            </a:blip>
            <a:stretch>
              <a:fillRect l="0" t="0" r="-75843"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72B3BEB8D68C741BBF3747B411EF90A" ma:contentTypeVersion="13" ma:contentTypeDescription="Crear nuevo documento." ma:contentTypeScope="" ma:versionID="ce2550b167071f2152d048a3f2589522">
  <xsd:schema xmlns:xsd="http://www.w3.org/2001/XMLSchema" xmlns:xs="http://www.w3.org/2001/XMLSchema" xmlns:p="http://schemas.microsoft.com/office/2006/metadata/properties" xmlns:ns2="257d39af-26e4-4d93-a57b-689c29af3907" xmlns:ns3="22c275bf-d5c3-4ad3-a4ef-35b365db5c87" targetNamespace="http://schemas.microsoft.com/office/2006/metadata/properties" ma:root="true" ma:fieldsID="43629ab21ec2a5aa37d33b45fbdb9736" ns2:_="" ns3:_="">
    <xsd:import namespace="257d39af-26e4-4d93-a57b-689c29af3907"/>
    <xsd:import namespace="22c275bf-d5c3-4ad3-a4ef-35b365db5c87"/>
    <xsd:element name="properties">
      <xsd:complexType>
        <xsd:sequence>
          <xsd:element name="documentManagement">
            <xsd:complexType>
              <xsd:all>
                <xsd:element ref="ns2:ReferenceId" minOccurs="0"/>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7d39af-26e4-4d93-a57b-689c29af3907"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lcf76f155ced4ddcb4097134ff3c332f" ma:index="10" nillable="true" ma:taxonomy="true" ma:internalName="lcf76f155ced4ddcb4097134ff3c332f" ma:taxonomyFieldName="MediaServiceImageTags" ma:displayName="Etiquetas de imagen" ma:readOnly="false" ma:fieldId="{5cf76f15-5ced-4ddc-b409-7134ff3c332f}" ma:taxonomyMulti="true" ma:sspId="99375edc-ecdf-4f5c-9a1f-fe3446fc7989" ma:termSetId="09814cd3-568e-fe90-9814-8d621ff8fb84" ma:anchorId="fba54fb3-c3e1-fe81-a776-ca4b69148c4d" ma:open="true" ma:isKeyword="false">
      <xsd:complexType>
        <xsd:sequence>
          <xsd:element ref="pc:Terms" minOccurs="0" maxOccurs="1"/>
        </xsd:sequence>
      </xsd:complex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2c275bf-d5c3-4ad3-a4ef-35b365db5c87" elementFormDefault="qualified">
    <xsd:import namespace="http://schemas.microsoft.com/office/2006/documentManagement/types"/>
    <xsd:import namespace="http://schemas.microsoft.com/office/infopath/2007/PartnerControls"/>
    <xsd:element name="TaxCatchAll" ma:index="11" nillable="true" ma:displayName="Taxonomy Catch All Column" ma:hidden="true" ma:list="{66cded4d-4741-4151-b9d5-55433987c277}" ma:internalName="TaxCatchAll" ma:showField="CatchAllData" ma:web="22c275bf-d5c3-4ad3-a4ef-35b365db5c8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57d39af-26e4-4d93-a57b-689c29af3907">
      <Terms xmlns="http://schemas.microsoft.com/office/infopath/2007/PartnerControls"/>
    </lcf76f155ced4ddcb4097134ff3c332f>
    <ReferenceId xmlns="257d39af-26e4-4d93-a57b-689c29af3907" xsi:nil="true"/>
    <TaxCatchAll xmlns="22c275bf-d5c3-4ad3-a4ef-35b365db5c87" xsi:nil="true"/>
  </documentManagement>
</p:properties>
</file>

<file path=customXml/itemProps1.xml><?xml version="1.0" encoding="utf-8"?>
<ds:datastoreItem xmlns:ds="http://schemas.openxmlformats.org/officeDocument/2006/customXml" ds:itemID="{E04CD1E4-9E49-4A3E-85C0-3DF820483113}"/>
</file>

<file path=customXml/itemProps2.xml><?xml version="1.0" encoding="utf-8"?>
<ds:datastoreItem xmlns:ds="http://schemas.openxmlformats.org/officeDocument/2006/customXml" ds:itemID="{AAC49423-97F2-4B65-B53C-487DE679399E}"/>
</file>

<file path=customXml/itemProps3.xml><?xml version="1.0" encoding="utf-8"?>
<ds:datastoreItem xmlns:ds="http://schemas.openxmlformats.org/officeDocument/2006/customXml" ds:itemID="{7C61AA26-1159-4E2E-A7A9-DBF1CCEC5820}"/>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marketing cafetería ilustrado verde</dc:title>
  <cp:revision>1</cp:revision>
  <dcterms:created xsi:type="dcterms:W3CDTF">2006-08-16T00:00:00Z</dcterms:created>
  <dcterms:modified xsi:type="dcterms:W3CDTF">2011-08-01T06:04:30Z</dcterms:modified>
  <dc:identifier>DAGOEwIDyiU</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0x010100372B3BEB8D68C741BBF3747B411EF90A</vt:lpwstr>
  </property>
</Properties>
</file>